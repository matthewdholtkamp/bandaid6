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83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12"/>
    <p:restoredTop sz="76369"/>
  </p:normalViewPr>
  <p:slideViewPr>
    <p:cSldViewPr snapToGrid="0">
      <p:cViewPr varScale="1">
        <p:scale>
          <a:sx n="55" d="100"/>
          <a:sy n="55" d="100"/>
        </p:scale>
        <p:origin x="17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tkamp, Matthew D LTC USARMY MEDCOM GLWACH (USA)" userId="a53eb376-1597-487a-b346-b13f0985a7ca" providerId="ADAL" clId="{E7DE3BAE-4921-460C-9CD6-0B188CC3BBC3}"/>
    <pc:docChg chg="modSld">
      <pc:chgData name="Holtkamp, Matthew D LTC USARMY MEDCOM GLWACH (USA)" userId="a53eb376-1597-487a-b346-b13f0985a7ca" providerId="ADAL" clId="{E7DE3BAE-4921-460C-9CD6-0B188CC3BBC3}" dt="2026-05-01T21:23:26.002" v="1" actId="1076"/>
      <pc:docMkLst>
        <pc:docMk/>
      </pc:docMkLst>
      <pc:sldChg chg="modSp mod">
        <pc:chgData name="Holtkamp, Matthew D LTC USARMY MEDCOM GLWACH (USA)" userId="a53eb376-1597-487a-b346-b13f0985a7ca" providerId="ADAL" clId="{E7DE3BAE-4921-460C-9CD6-0B188CC3BBC3}" dt="2026-05-01T21:23:26.002" v="1" actId="1076"/>
        <pc:sldMkLst>
          <pc:docMk/>
          <pc:sldMk cId="3453989350" sldId="834"/>
        </pc:sldMkLst>
        <pc:picChg chg="mod">
          <ac:chgData name="Holtkamp, Matthew D LTC USARMY MEDCOM GLWACH (USA)" userId="a53eb376-1597-487a-b346-b13f0985a7ca" providerId="ADAL" clId="{E7DE3BAE-4921-460C-9CD6-0B188CC3BBC3}" dt="2026-05-01T21:23:26.002" v="1" actId="1076"/>
          <ac:picMkLst>
            <pc:docMk/>
            <pc:sldMk cId="3453989350" sldId="834"/>
            <ac:picMk id="5" creationId="{077901A2-9C98-DE59-D204-B9C8E95B421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138F3-DADA-8F49-9B93-5115618A8922}"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FDE71-5C70-4247-BAE6-5D05DC3B8239}" type="slidenum">
              <a:rPr lang="en-US" smtClean="0"/>
              <a:t>‹#›</a:t>
            </a:fld>
            <a:endParaRPr lang="en-US"/>
          </a:p>
        </p:txBody>
      </p:sp>
    </p:spTree>
    <p:extLst>
      <p:ext uri="{BB962C8B-B14F-4D97-AF65-F5344CB8AC3E}">
        <p14:creationId xmlns:p14="http://schemas.microsoft.com/office/powerpoint/2010/main" val="3491704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Phase 1: Build (Now – 1 Mar 2026): </a:t>
            </a:r>
            <a:r>
              <a:rPr lang="en-US" dirty="0"/>
              <a:t>This initial five-month phase focuses on stabilizing critical systems and processes before the move to the new hospital. The main effort is </a:t>
            </a:r>
            <a:r>
              <a:rPr lang="en-US" b="1" dirty="0"/>
              <a:t>LOE 3: </a:t>
            </a:r>
            <a:r>
              <a:rPr lang="en-US" b="1" dirty="0" err="1"/>
              <a:t>MSCoE</a:t>
            </a:r>
            <a:r>
              <a:rPr lang="en-US" b="1" dirty="0"/>
              <a:t> Integration</a:t>
            </a:r>
            <a:r>
              <a:rPr lang="en-US" dirty="0"/>
              <a:t>, with the immediate priority of implementing the 'Right Care, Right Place, Right Time' model for trainees to fix systemic performance gaps. The decisive point for this phase is the successful move into the new hospital facility.</a:t>
            </a:r>
          </a:p>
          <a:p>
            <a:pPr>
              <a:buFont typeface="Arial" panose="020B0604020202020204" pitchFamily="34" charset="0"/>
              <a:buNone/>
            </a:pPr>
            <a:r>
              <a:rPr lang="en-US" b="1" dirty="0"/>
              <a:t>LOE 1: Medically Ready Force</a:t>
            </a:r>
          </a:p>
          <a:p>
            <a:pPr marL="628650" lvl="1" indent="-171450">
              <a:buFont typeface="Arial" panose="020B0604020202020204" pitchFamily="34" charset="0"/>
              <a:buChar char="•"/>
            </a:pPr>
            <a:r>
              <a:rPr lang="en-US" dirty="0"/>
              <a:t>Optimize Critical Services: Execute plans to fix Primary Care access, trainee ER flow, and Surgery throughput. Increase Group encounters (Shave/Body Fat)</a:t>
            </a:r>
          </a:p>
          <a:p>
            <a:pPr marL="628650" lvl="1" indent="-171450">
              <a:buFont typeface="Arial" panose="020B0604020202020204" pitchFamily="34" charset="0"/>
              <a:buChar char="•"/>
            </a:pPr>
            <a:r>
              <a:rPr lang="en-US" dirty="0"/>
              <a:t>Designate No-Fail Missions: Prioritize critical hospital services like the OB mission and the trainee Behavioral Health mission to prevent catastrophic failure.</a:t>
            </a:r>
          </a:p>
          <a:p>
            <a:pPr marL="628650" lvl="1" indent="-171450">
              <a:buFont typeface="Arial" panose="020B0604020202020204" pitchFamily="34" charset="0"/>
              <a:buChar char="•"/>
            </a:pPr>
            <a:r>
              <a:rPr lang="en-US" dirty="0"/>
              <a:t>Implement Care Ladder: Institute the "care ladder" model across clinics, ensuring patients are seen at the right level of care (medic, nurse, PA/NP, physician) to optimize provider time .</a:t>
            </a:r>
          </a:p>
          <a:p>
            <a:pPr lvl="0">
              <a:buFont typeface="Arial" panose="020B0604020202020204" pitchFamily="34" charset="0"/>
              <a:buNone/>
            </a:pPr>
            <a:r>
              <a:rPr lang="en-US" b="1" dirty="0"/>
              <a:t>LOE 2: Ready Medical Force</a:t>
            </a:r>
          </a:p>
          <a:p>
            <a:pPr marL="628650" lvl="1" indent="-171450">
              <a:buFont typeface="Arial" panose="020B0604020202020204" pitchFamily="34" charset="0"/>
              <a:buChar char="•"/>
            </a:pPr>
            <a:r>
              <a:rPr lang="en-US" dirty="0"/>
              <a:t>Introduce Efficiency Tools: Conduct initial Leader Professional Development (LPD) sessions on AI tools (</a:t>
            </a:r>
            <a:r>
              <a:rPr lang="en-US" dirty="0" err="1"/>
              <a:t>OpenEvidence</a:t>
            </a:r>
            <a:r>
              <a:rPr lang="en-US" dirty="0"/>
              <a:t>/Ask Sage) to build user familiarity and drive efficiency </a:t>
            </a:r>
          </a:p>
          <a:p>
            <a:pPr marL="628650" lvl="1" indent="-171450">
              <a:buFont typeface="Arial" panose="020B0604020202020204" pitchFamily="34" charset="0"/>
              <a:buChar char="•"/>
            </a:pPr>
            <a:r>
              <a:rPr lang="en-US" b="0" dirty="0"/>
              <a:t>Clarify Roles: Right People, Right Job: </a:t>
            </a:r>
            <a:r>
              <a:rPr lang="en-US" dirty="0"/>
              <a:t>Ensure the right people are in the right jobs by clearly defining critical roles and responsibilities, such as CTMC OIC, and deliberate counseling. </a:t>
            </a:r>
          </a:p>
          <a:p>
            <a:pPr marL="628650" lvl="1" indent="-171450">
              <a:buFont typeface="Arial" panose="020B0604020202020204" pitchFamily="34" charset="0"/>
              <a:buChar char="•"/>
            </a:pPr>
            <a:r>
              <a:rPr lang="en-US" dirty="0"/>
              <a:t>Establish Accountability: Credentials and Safety standards: Enforce 100% BLS compliance and timely medical record closure (72-hour outpatient / 30-day inpatient rule), no pencil wiping credentials committee, risk management. </a:t>
            </a:r>
          </a:p>
          <a:p>
            <a:pPr marL="628650" lvl="1" indent="-171450">
              <a:buFont typeface="Arial" panose="020B0604020202020204" pitchFamily="34" charset="0"/>
              <a:buChar char="•"/>
            </a:pPr>
            <a:r>
              <a:rPr lang="en-US" dirty="0"/>
              <a:t>Conduct at functional Need </a:t>
            </a:r>
            <a:r>
              <a:rPr lang="en-US" dirty="0" err="1"/>
              <a:t>anslysis</a:t>
            </a:r>
            <a:r>
              <a:rPr lang="en-US" dirty="0"/>
              <a:t>: To support the Care ladder approach preform a function needs analysis to increase manning of Nurses/SW and APP (PA/NP) over Physicians/PHDs </a:t>
            </a:r>
          </a:p>
          <a:p>
            <a:r>
              <a:rPr lang="en-US" b="1" dirty="0"/>
              <a:t>LOE 3: </a:t>
            </a:r>
            <a:r>
              <a:rPr lang="en-US" b="1" dirty="0" err="1"/>
              <a:t>MSCoE</a:t>
            </a:r>
            <a:r>
              <a:rPr lang="en-US" b="1" dirty="0"/>
              <a:t> Integration (Main Effort)</a:t>
            </a:r>
            <a:endParaRPr lang="en-US" dirty="0"/>
          </a:p>
          <a:p>
            <a:pPr marL="628650" lvl="1" indent="-171450">
              <a:buFont typeface="Arial" panose="020B0604020202020204" pitchFamily="34" charset="0"/>
              <a:buChar char="•"/>
            </a:pPr>
            <a:r>
              <a:rPr lang="en-US" dirty="0"/>
              <a:t>Implement Trainee Care Model: Execute the three-pronged approach (TOMS, CTMC, ER) to deliver the right care, at the right place, at the right time.</a:t>
            </a:r>
          </a:p>
          <a:p>
            <a:pPr marL="628650" lvl="1" indent="-171450">
              <a:buFont typeface="Arial" panose="020B0604020202020204" pitchFamily="34" charset="0"/>
              <a:buChar char="•"/>
            </a:pPr>
            <a:r>
              <a:rPr lang="en-US" b="0" dirty="0"/>
              <a:t>Establish Surgeon's Oversight</a:t>
            </a:r>
            <a:r>
              <a:rPr lang="en-US" b="1" dirty="0"/>
              <a:t>:</a:t>
            </a:r>
            <a:r>
              <a:rPr lang="en-US" dirty="0"/>
              <a:t> Restructure the </a:t>
            </a:r>
            <a:r>
              <a:rPr lang="en-US" dirty="0" err="1"/>
              <a:t>MSCoE</a:t>
            </a:r>
            <a:r>
              <a:rPr lang="en-US" dirty="0"/>
              <a:t> medical line of effort to establish the Surgeon as the lead for synchronizing manning, training, and equipping across all brigades to identify and fill readiness gaps.</a:t>
            </a:r>
          </a:p>
          <a:p>
            <a:pPr marL="628650" lvl="1" indent="-171450">
              <a:buFont typeface="Arial" panose="020B0604020202020204" pitchFamily="34" charset="0"/>
              <a:buChar char="•"/>
            </a:pPr>
            <a:r>
              <a:rPr lang="en-US" b="0" dirty="0"/>
              <a:t>Institute Executive Medicine:</a:t>
            </a:r>
            <a:r>
              <a:rPr lang="en-US" dirty="0"/>
              <a:t> Establish and manage an Executive Medicine program to provide dedicated, streamlined healthcare access and readiness oversight for </a:t>
            </a:r>
            <a:r>
              <a:rPr lang="en-US" dirty="0" err="1"/>
              <a:t>MSCoE</a:t>
            </a:r>
            <a:r>
              <a:rPr lang="en-US" dirty="0"/>
              <a:t> key leaders.</a:t>
            </a:r>
          </a:p>
          <a:p>
            <a:pPr marL="628650" lvl="1" indent="-171450">
              <a:buFont typeface="Arial" panose="020B0604020202020204" pitchFamily="34" charset="0"/>
              <a:buChar char="•"/>
            </a:pPr>
            <a:r>
              <a:rPr lang="en-US" dirty="0"/>
              <a:t>Protect Clinic Access: Enforce the Soldier Readiness Program (SRP) as the single, walk-in point for all readiness tasks (PHAs/physicals) to protect primary care templates with group shaving and Body fat encounters</a:t>
            </a:r>
          </a:p>
          <a:p>
            <a:endParaRPr lang="en-US" dirty="0"/>
          </a:p>
          <a:p>
            <a:r>
              <a:rPr lang="en-US" b="1" dirty="0"/>
              <a:t>Phase 2: Improve (1 Mar 2026 – 1 Oct 2026) </a:t>
            </a:r>
            <a:r>
              <a:rPr lang="en-US" dirty="0"/>
              <a:t>Following the hospital move, this seven-month phase shifts the main effort to </a:t>
            </a:r>
            <a:r>
              <a:rPr lang="en-US" b="1" dirty="0"/>
              <a:t>LOE 1: Medically Ready Force</a:t>
            </a:r>
            <a:r>
              <a:rPr lang="en-US" dirty="0"/>
              <a:t>. The focus is on leveraging the new facility and stabilized processes to drive performance and achieve all DHA metrics. This phase culminates at the decisive point of the Hospital Commander's Change of Command.</a:t>
            </a:r>
          </a:p>
          <a:p>
            <a:r>
              <a:rPr lang="en-US" b="1" dirty="0"/>
              <a:t>LOE 1: Medically Ready Force (Main Effort)</a:t>
            </a:r>
            <a:endParaRPr lang="en-US" dirty="0"/>
          </a:p>
          <a:p>
            <a:pPr marL="628650" lvl="1" indent="-171450">
              <a:buFont typeface="Arial" panose="020B0604020202020204" pitchFamily="34" charset="0"/>
              <a:buChar char="•"/>
            </a:pPr>
            <a:r>
              <a:rPr lang="en-US" b="1" dirty="0"/>
              <a:t>PCLS DHA Care model:</a:t>
            </a:r>
            <a:r>
              <a:rPr lang="en-US" dirty="0"/>
              <a:t> Building on the initial stabilization of access, drive performance to meet DHA targets for appointments (&lt;24hr acutes / &lt;7d follow-up) and 100% HEDIS completion.</a:t>
            </a:r>
          </a:p>
          <a:p>
            <a:pPr marL="628650" lvl="1" indent="-171450">
              <a:buFont typeface="Arial" panose="020B0604020202020204" pitchFamily="34" charset="0"/>
              <a:buChar char="•"/>
            </a:pPr>
            <a:r>
              <a:rPr lang="en-US" b="1" dirty="0"/>
              <a:t>Improve Throughput in New Facility:</a:t>
            </a:r>
            <a:r>
              <a:rPr lang="en-US" dirty="0"/>
              <a:t> Leverage the new hospital to implement the ER fast-track model (medic lead) and optimize OR scheduling, moving from stabilized to targeted throughput of 176 cases/month.</a:t>
            </a:r>
          </a:p>
          <a:p>
            <a:pPr marL="628650" lvl="1" indent="-171450">
              <a:buFont typeface="Arial" panose="020B0604020202020204" pitchFamily="34" charset="0"/>
              <a:buChar char="•"/>
            </a:pPr>
            <a:r>
              <a:rPr lang="en-US" b="1" dirty="0"/>
              <a:t>Improve BH Targeted Care Model:</a:t>
            </a:r>
            <a:r>
              <a:rPr lang="en-US" dirty="0"/>
              <a:t> Scale the group therapy and technician-led vectors established in Phase 1 to expand access and meet readiness obligations with fewer providers.</a:t>
            </a:r>
          </a:p>
          <a:p>
            <a:pPr lvl="0">
              <a:buFont typeface="Arial" panose="020B0604020202020204" pitchFamily="34" charset="0"/>
              <a:buNone/>
            </a:pPr>
            <a:r>
              <a:rPr lang="en-US" b="1" dirty="0"/>
              <a:t>LOE 2: Ready Medical Force</a:t>
            </a:r>
            <a:endParaRPr lang="en-US" dirty="0"/>
          </a:p>
          <a:p>
            <a:pPr marL="628650" lvl="1" indent="-171450">
              <a:buFont typeface="Arial" panose="020B0604020202020204" pitchFamily="34" charset="0"/>
              <a:buChar char="•"/>
            </a:pPr>
            <a:r>
              <a:rPr lang="en-US" b="1" dirty="0"/>
              <a:t>Man to the Function needs analysis: </a:t>
            </a:r>
            <a:r>
              <a:rPr lang="en-US" b="0" dirty="0"/>
              <a:t>Man to  the </a:t>
            </a:r>
            <a:r>
              <a:rPr lang="en-US" dirty="0"/>
              <a:t>Care Ladder model - off the function needs analysis conducted in Phase 1 -&gt; increase RN/SW and APP (PA/NP) over physicians and PHD across service lines exception: Surgeon. Transition from the reactive manning of Phase 1 by building a predictable 6-month staffing model to anticipate deployment and PCS backfills.</a:t>
            </a:r>
          </a:p>
          <a:p>
            <a:pPr marL="628650" lvl="1" indent="-171450">
              <a:buFont typeface="Arial" panose="020B0604020202020204" pitchFamily="34" charset="0"/>
              <a:buChar char="•"/>
            </a:pPr>
            <a:r>
              <a:rPr lang="en-US" b="1" dirty="0"/>
              <a:t>Reorganize for Clinical Efficiency:</a:t>
            </a:r>
            <a:r>
              <a:rPr lang="en-US" dirty="0"/>
              <a:t> Based on the stabilized processes from Phase 1, restructure clinic operations, provider templates, and empanelment to maximize efficiency in the new facility.</a:t>
            </a:r>
          </a:p>
          <a:p>
            <a:pPr marL="628650" lvl="1" indent="-171450">
              <a:buFont typeface="Arial" panose="020B0604020202020204" pitchFamily="34" charset="0"/>
              <a:buChar char="•"/>
            </a:pPr>
            <a:r>
              <a:rPr lang="en-US" b="1" dirty="0"/>
              <a:t>Integrate Telehealth and Asynchronous encounters:</a:t>
            </a:r>
            <a:r>
              <a:rPr lang="en-US" dirty="0"/>
              <a:t> Move beyond ad hoc use by formally leveraging credentialed telehealth providers and increase asynchronous capabilities to augment staff, cover service gaps, and reduce network leakage.</a:t>
            </a:r>
          </a:p>
          <a:p>
            <a:r>
              <a:rPr lang="en-US" b="1" dirty="0"/>
              <a:t>LOE 3: </a:t>
            </a:r>
            <a:r>
              <a:rPr lang="en-US" b="1" dirty="0" err="1"/>
              <a:t>MSCoE</a:t>
            </a:r>
            <a:r>
              <a:rPr lang="en-US" b="1" dirty="0"/>
              <a:t> Integration</a:t>
            </a:r>
            <a:endParaRPr lang="en-US" dirty="0"/>
          </a:p>
          <a:p>
            <a:pPr marL="628650" lvl="1" indent="-171450">
              <a:buFont typeface="Arial" panose="020B0604020202020204" pitchFamily="34" charset="0"/>
              <a:buChar char="•"/>
            </a:pPr>
            <a:r>
              <a:rPr lang="en-US" b="1" dirty="0"/>
              <a:t>Establish Predictive Medical Logistics:</a:t>
            </a:r>
            <a:r>
              <a:rPr lang="en-US" dirty="0"/>
              <a:t> Transition from reactive to predictive logistics by creating brigade Authorized Stockage Lists (ASLs), tracking usage rates, refining the TDA to match FORSCOM standards, and empowering a DCAMs-trained medic in each brigade to manage a data-driven spend plan.</a:t>
            </a:r>
          </a:p>
          <a:p>
            <a:pPr marL="628650" lvl="1" indent="-171450">
              <a:buFont typeface="Arial" panose="020B0604020202020204" pitchFamily="34" charset="0"/>
              <a:buChar char="•"/>
            </a:pPr>
            <a:r>
              <a:rPr lang="en-US" b="1" dirty="0"/>
              <a:t>Standardize Medical Operations:</a:t>
            </a:r>
            <a:r>
              <a:rPr lang="en-US" dirty="0"/>
              <a:t> Formalize </a:t>
            </a:r>
            <a:r>
              <a:rPr lang="en-US" dirty="0" err="1"/>
              <a:t>MSCoE</a:t>
            </a:r>
            <a:r>
              <a:rPr lang="en-US" dirty="0"/>
              <a:t> Surgeon oversight of all brigades by organizing CTC medics under a central authority and standardizing key documents, including training exercise OPORDs and Battalion Aid Station (BAS) SOPs .</a:t>
            </a:r>
          </a:p>
          <a:p>
            <a:pPr marL="628650" lvl="1" indent="-171450">
              <a:buFont typeface="Arial" panose="020B0604020202020204" pitchFamily="34" charset="0"/>
              <a:buChar char="•"/>
            </a:pPr>
            <a:r>
              <a:rPr lang="en-US" b="1" dirty="0"/>
              <a:t>Develop Automated Readiness Tracker:</a:t>
            </a:r>
            <a:r>
              <a:rPr lang="en-US" dirty="0"/>
              <a:t> Build an automated readiness tracker by creating a data pipeline from Army Vantage to a Power BI dashboard, enabling real-time oversight of key medical readiness metrics across all brigades.</a:t>
            </a:r>
          </a:p>
          <a:p>
            <a:endParaRPr lang="en-US" b="1" dirty="0"/>
          </a:p>
          <a:p>
            <a:r>
              <a:rPr lang="en-US" b="1" dirty="0"/>
              <a:t>Phase 3: Refine (1 Oct 2026 – 1 Jul 2027): </a:t>
            </a:r>
            <a:r>
              <a:rPr lang="en-US" dirty="0"/>
              <a:t>In this final nine-month phase leading to my PCS, the focus shifts to refinement and sustainment, with the main effort on </a:t>
            </a:r>
            <a:r>
              <a:rPr lang="en-US" b="1" dirty="0"/>
              <a:t>LOE 2: Ready Medical Force</a:t>
            </a:r>
            <a:r>
              <a:rPr lang="en-US" dirty="0"/>
              <a:t>. The goal is to move beyond simply meeting metrics to deeply embedding a culture of continuous improvement, ensuring the systems we've built are not just maintained but are actively refined. This phase prepares the organization for a successful leadership transition by ensuring the team is empowered to own and lead the established processes.</a:t>
            </a:r>
          </a:p>
          <a:p>
            <a:r>
              <a:rPr lang="en-US" b="1" dirty="0"/>
              <a:t>LOE 1: Medically Ready Force</a:t>
            </a:r>
          </a:p>
          <a:p>
            <a:pPr marL="628650" lvl="1" indent="-171450">
              <a:buFont typeface="Arial" panose="020B0604020202020204" pitchFamily="34" charset="0"/>
              <a:buChar char="•"/>
            </a:pPr>
            <a:r>
              <a:rPr lang="en-US" b="1" dirty="0"/>
              <a:t>Refine Primary Care Flow and Access</a:t>
            </a:r>
            <a:r>
              <a:rPr lang="en-US" dirty="0"/>
              <a:t> Charter a formal PI project to conduct a root cause analysis of Primary Care Service Line (PCSL) inefficiencies impacting patient flow. This project will target the systemic issues causing poor access to care and unmet HEDIS measures, ensuring we achieve and sustain our core DHA metrics .</a:t>
            </a:r>
          </a:p>
          <a:p>
            <a:pPr marL="628650" lvl="1" indent="-171450">
              <a:buFont typeface="Arial" panose="020B0604020202020204" pitchFamily="34" charset="0"/>
              <a:buChar char="•"/>
            </a:pPr>
            <a:r>
              <a:rPr lang="en-US" b="1" dirty="0"/>
              <a:t>Optimize Surgical Service Line Throughput</a:t>
            </a:r>
            <a:r>
              <a:rPr lang="en-US" dirty="0"/>
              <a:t> Conduct a root cause analysis of the Surgical Service Line (32SL) to identify and eliminate throughput bottlenecks from consult to recovery. The analysis will focus on anesthesia constraints, first-case on-time starts, and OR turnover times to drive the monthly case volume to the DHA target of 176 .</a:t>
            </a:r>
          </a:p>
          <a:p>
            <a:pPr marL="628650" lvl="1" indent="-171450">
              <a:buFont typeface="Arial" panose="020B0604020202020204" pitchFamily="34" charset="0"/>
              <a:buChar char="•"/>
            </a:pPr>
            <a:r>
              <a:rPr lang="en-US" b="1" dirty="0"/>
              <a:t>Integrate Technology to Enhance Standards of Care</a:t>
            </a:r>
            <a:r>
              <a:rPr lang="en-US" dirty="0"/>
              <a:t> Integrate clinical decision support tools like </a:t>
            </a:r>
            <a:r>
              <a:rPr lang="en-US" dirty="0" err="1"/>
              <a:t>OpenEvidence</a:t>
            </a:r>
            <a:r>
              <a:rPr lang="en-US" dirty="0"/>
              <a:t> and other AI technologies into daily workflows at the point of care . This will enhance diagnostic accuracy and streamline documentation, ensuring our providers are equipped to deliver the highest, most evidence-based standard of care.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LOE 2: Ready Medical Force (Main Effort) </a:t>
            </a:r>
          </a:p>
          <a:p>
            <a:pPr marL="628650" lvl="1" indent="-171450">
              <a:buFont typeface="Arial" panose="020B0604020202020204" pitchFamily="34" charset="0"/>
              <a:buChar char="•"/>
            </a:pPr>
            <a:r>
              <a:rPr lang="en-US" b="1" dirty="0"/>
              <a:t>Execute Deliberate Professional Development</a:t>
            </a:r>
            <a:r>
              <a:rPr lang="en-US" dirty="0"/>
              <a:t> </a:t>
            </a:r>
            <a:r>
              <a:rPr lang="en-US" b="1" dirty="0"/>
              <a:t>Publish and execute a six-month Leader Professional Development (LPD) calendar</a:t>
            </a:r>
            <a:r>
              <a:rPr lang="en-US" dirty="0"/>
              <a:t> and mandate quarterly deliberate counseling sessions for every team member. This provides a predictable framework for continuously reinforcing goals and expectations, tracking individual progress, and ensuring a clear path for professional growth.</a:t>
            </a:r>
          </a:p>
          <a:p>
            <a:pPr marL="628650" lvl="1" indent="-171450">
              <a:buFont typeface="Arial" panose="020B0604020202020204" pitchFamily="34" charset="0"/>
              <a:buChar char="•"/>
            </a:pPr>
            <a:r>
              <a:rPr lang="en-US" b="1" dirty="0"/>
              <a:t>Enforce Military Readiness and Education Standards</a:t>
            </a:r>
            <a:r>
              <a:rPr lang="en-US" dirty="0"/>
              <a:t> </a:t>
            </a:r>
            <a:r>
              <a:rPr lang="en-US" b="1" dirty="0"/>
              <a:t>Actively track and manage soldier readiness</a:t>
            </a:r>
            <a:r>
              <a:rPr lang="en-US" dirty="0"/>
              <a:t> by scheduling required Army training and prioritizing attendance at professional military education (PME) for all eligible personnel. This non-negotiable standard ensures we develop well-rounded leaders who are not only clinical experts but are also prepared for future Army leadership roles.</a:t>
            </a:r>
          </a:p>
          <a:p>
            <a:pPr marL="628650" lvl="1" indent="-171450">
              <a:buFont typeface="Arial" panose="020B0604020202020204" pitchFamily="34" charset="0"/>
              <a:buChar char="•"/>
            </a:pPr>
            <a:r>
              <a:rPr lang="en-US" b="1" dirty="0"/>
              <a:t>Execute a Deliberate Leadership Transition Plan</a:t>
            </a:r>
            <a:r>
              <a:rPr lang="en-US" dirty="0"/>
              <a:t> </a:t>
            </a:r>
            <a:r>
              <a:rPr lang="en-US" b="1" dirty="0"/>
              <a:t>Identify and formally mentor high-potential subordinates</a:t>
            </a:r>
            <a:r>
              <a:rPr lang="en-US" dirty="0"/>
              <a:t> to take ownership of key processes, such as leading PI projects and briefing performance dashboards . This direct transfer of responsibility is the final step in linking individual development to organizational sustainment, guaranteeing continuity of our operational model after the change of leadership.</a:t>
            </a:r>
          </a:p>
          <a:p>
            <a:pPr marL="171450" lvl="0" indent="-171450">
              <a:buFont typeface="Arial" panose="020B0604020202020204" pitchFamily="34" charset="0"/>
              <a:buChar char="•"/>
            </a:pPr>
            <a:r>
              <a:rPr lang="en-US" b="1" dirty="0"/>
              <a:t>LOE 3: </a:t>
            </a:r>
            <a:r>
              <a:rPr lang="en-US" b="1" dirty="0" err="1"/>
              <a:t>MSCoE</a:t>
            </a:r>
            <a:r>
              <a:rPr lang="en-US" b="1" dirty="0"/>
              <a:t> Integration</a:t>
            </a:r>
            <a:r>
              <a:rPr lang="en-US" dirty="0"/>
              <a:t> </a:t>
            </a:r>
          </a:p>
          <a:p>
            <a:pPr marL="628650" lvl="1" indent="-171450">
              <a:buFont typeface="Arial" panose="020B0604020202020204" pitchFamily="34" charset="0"/>
              <a:buChar char="•"/>
            </a:pPr>
            <a:r>
              <a:rPr lang="en-US" b="1" dirty="0"/>
              <a:t>Institutionalize a Continuous Improvement Loop</a:t>
            </a:r>
            <a:r>
              <a:rPr lang="en-US" dirty="0"/>
              <a:t> Establish a formal process to conduct after-action reviews (AARs) following all major </a:t>
            </a:r>
            <a:r>
              <a:rPr lang="en-US" dirty="0" err="1"/>
              <a:t>MSCoE</a:t>
            </a:r>
            <a:r>
              <a:rPr lang="en-US" dirty="0"/>
              <a:t> training exercises to capture medical lessons learned. This ensures that medical support plans, MEDLOG, and Battalion Aid Station (BAS) SOPs are continuously refined based on real-world feedback, creating a truly responsive and mature system.</a:t>
            </a:r>
          </a:p>
          <a:p>
            <a:pPr marL="628650" lvl="1" indent="-171450">
              <a:buFont typeface="Arial" panose="020B0604020202020204" pitchFamily="34" charset="0"/>
              <a:buChar char="•"/>
            </a:pPr>
            <a:r>
              <a:rPr lang="en-US" b="1" dirty="0"/>
              <a:t>Integrate Medical Readiness into the </a:t>
            </a:r>
            <a:r>
              <a:rPr lang="en-US" b="1" dirty="0" err="1"/>
              <a:t>MSCoE</a:t>
            </a:r>
            <a:r>
              <a:rPr lang="en-US" b="1" dirty="0"/>
              <a:t> Battle Rhythm</a:t>
            </a:r>
            <a:r>
              <a:rPr lang="en-US" dirty="0"/>
              <a:t> Transition the automated readiness tracker from a reporting tool to a predictive planning tool, briefing key trends at the quarterly </a:t>
            </a:r>
            <a:r>
              <a:rPr lang="en-US" dirty="0" err="1"/>
              <a:t>MSCoE</a:t>
            </a:r>
            <a:r>
              <a:rPr lang="en-US" dirty="0"/>
              <a:t> medical readiness council. This ensures medical readiness is a permanent, data-driven topic in the </a:t>
            </a:r>
            <a:r>
              <a:rPr lang="en-US" dirty="0" err="1"/>
              <a:t>MSCoE</a:t>
            </a:r>
            <a:r>
              <a:rPr lang="en-US" dirty="0"/>
              <a:t> command dialogue, solidifying a seamless and proactive partnership.</a:t>
            </a:r>
          </a:p>
          <a:p>
            <a:pPr marL="628650" lvl="1" indent="-171450">
              <a:buFont typeface="Arial" panose="020B0604020202020204" pitchFamily="34" charset="0"/>
              <a:buChar char="•"/>
            </a:pPr>
            <a:r>
              <a:rPr lang="en-US" b="1" dirty="0"/>
              <a:t>Achieve Predictive Medical Logistics</a:t>
            </a:r>
            <a:r>
              <a:rPr lang="en-US" dirty="0"/>
              <a:t> Refine the brigade-level spend plans based on a full year of consumption data from the Authorized Stockage Lists (ASLs). This final step moves the brigades from data collection to true predictive logistics, ensuring they can anticipate future needs and manage their resources effectively.</a:t>
            </a:r>
          </a:p>
          <a:p>
            <a:pPr marL="171450" lvl="0" indent="-171450">
              <a:buFont typeface="Arial" panose="020B0604020202020204" pitchFamily="34" charset="0"/>
              <a:buChar cha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dirty="0"/>
          </a:p>
          <a:p>
            <a:pPr lvl="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21293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D2AAC-230F-35D0-3618-A3ADEF84F1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8262C8-5222-D222-36CC-17121C2230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A57080-1AD9-F9C8-7507-5E47F4D81F3E}"/>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5" name="Footer Placeholder 4">
            <a:extLst>
              <a:ext uri="{FF2B5EF4-FFF2-40B4-BE49-F238E27FC236}">
                <a16:creationId xmlns:a16="http://schemas.microsoft.com/office/drawing/2014/main" id="{3EE46A16-CBFD-8CE2-1107-ED31CF1DB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2942B3-C03F-999F-81D4-1EE727B66C98}"/>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026724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CDF8-7789-D66B-EAF4-B721CD2578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321C0A-9D53-8858-9F66-CE1866D959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ADD71-C823-0FB6-8414-9E525149C210}"/>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5" name="Footer Placeholder 4">
            <a:extLst>
              <a:ext uri="{FF2B5EF4-FFF2-40B4-BE49-F238E27FC236}">
                <a16:creationId xmlns:a16="http://schemas.microsoft.com/office/drawing/2014/main" id="{B116BDEC-D3CF-F8E7-8E69-7A40A71F2D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33143-0E26-844D-CED3-A56DC8B83346}"/>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4010307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DAF40-7AA7-87AD-74A0-08ED84402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85B420-C51D-E444-032F-C9ECB6D9F6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F7997F-D6C6-B9B3-994B-18BC5A5A5FE0}"/>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5" name="Footer Placeholder 4">
            <a:extLst>
              <a:ext uri="{FF2B5EF4-FFF2-40B4-BE49-F238E27FC236}">
                <a16:creationId xmlns:a16="http://schemas.microsoft.com/office/drawing/2014/main" id="{A23ED6F5-6A46-7108-D986-FCF144155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17C312-30A5-425C-6D0C-CB1FFC126F6C}"/>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745815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B6AD3-3E7A-96B7-D83D-631D9CA197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3185A1-9566-57C2-A03C-5817AE4780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6D97B7-9F64-C367-2AF3-0353042302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94210C-F6E9-B5EF-F8A3-A83680A001FD}"/>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6" name="Footer Placeholder 5">
            <a:extLst>
              <a:ext uri="{FF2B5EF4-FFF2-40B4-BE49-F238E27FC236}">
                <a16:creationId xmlns:a16="http://schemas.microsoft.com/office/drawing/2014/main" id="{90FAD42B-08D1-3427-D237-55B5AADD47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576C4C-EC95-1020-0592-EFF085A895FD}"/>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176355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18EDF-BC85-C6AE-B691-FA69F6A4C3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3C39E1-6FCF-89A1-F795-B5D9D058FB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3061E6-FA4D-D38D-162B-6A3EBB5333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CB8C10-A6B2-47DD-4344-D03188DDAA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1100DC-F799-501D-E6CF-0FB2C9293D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F6E17C-6184-DA1D-7759-D8FC5D296329}"/>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8" name="Footer Placeholder 7">
            <a:extLst>
              <a:ext uri="{FF2B5EF4-FFF2-40B4-BE49-F238E27FC236}">
                <a16:creationId xmlns:a16="http://schemas.microsoft.com/office/drawing/2014/main" id="{F4F13888-6699-AABB-C9E8-DA7DDF4DC5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B29A65-F74B-EEB8-176C-70741F0FB16D}"/>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1150686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82BF-752F-E65F-79F5-0386EBCB48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5850E5-4807-3C45-BFDB-AE2E6A84EB7C}"/>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4" name="Footer Placeholder 3">
            <a:extLst>
              <a:ext uri="{FF2B5EF4-FFF2-40B4-BE49-F238E27FC236}">
                <a16:creationId xmlns:a16="http://schemas.microsoft.com/office/drawing/2014/main" id="{6B4D219C-1BA3-89B7-137D-AF06999D3B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B59A56-328B-0F51-4AB0-49A18BDC1F86}"/>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1702893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0AF354-30BA-C0E6-48F5-9B32051C69B5}"/>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3" name="Footer Placeholder 2">
            <a:extLst>
              <a:ext uri="{FF2B5EF4-FFF2-40B4-BE49-F238E27FC236}">
                <a16:creationId xmlns:a16="http://schemas.microsoft.com/office/drawing/2014/main" id="{29C3E16B-3B19-8720-CBCB-E4187F1346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F1A2F6-84FB-98E1-0ABF-7695577805FE}"/>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1502627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6A88-5AF8-AB89-014A-73AD6BD67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0C63DF-8AC7-8B74-1AFD-8EF7C18400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033BAD-F228-DA9E-FB26-4A670F3742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F42A5-85FD-63B8-FD37-E369AC5755E2}"/>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6" name="Footer Placeholder 5">
            <a:extLst>
              <a:ext uri="{FF2B5EF4-FFF2-40B4-BE49-F238E27FC236}">
                <a16:creationId xmlns:a16="http://schemas.microsoft.com/office/drawing/2014/main" id="{493B11AD-FF40-3D33-E295-ED57648E38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5A4040-3C89-50B6-8B6C-43D8F8D62F24}"/>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3297611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2C7B-C695-34F5-0078-70DCF6C9B4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952F18-B952-87D6-9B65-EDDE7A898B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E30CFE-337B-B44A-BF30-CE83D7CCB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DDF612-B8D0-9D96-6449-B51C85E7BFF7}"/>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6" name="Footer Placeholder 5">
            <a:extLst>
              <a:ext uri="{FF2B5EF4-FFF2-40B4-BE49-F238E27FC236}">
                <a16:creationId xmlns:a16="http://schemas.microsoft.com/office/drawing/2014/main" id="{9562C91C-C8AF-A5AC-EBDB-D963FA1A8A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CB6C8C-DFC4-3987-1B6B-BE4D6C7D3A52}"/>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84260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65DD0-BA70-671F-67F6-6273B8D243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1EED3E-7DEA-3F18-3992-C91E0DA881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7A1782-88F7-26CE-BF51-F06C59372836}"/>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5" name="Footer Placeholder 4">
            <a:extLst>
              <a:ext uri="{FF2B5EF4-FFF2-40B4-BE49-F238E27FC236}">
                <a16:creationId xmlns:a16="http://schemas.microsoft.com/office/drawing/2014/main" id="{5013FF77-5832-92E3-0126-80C835FF45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2F380-896F-4373-EADD-918028833A69}"/>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2699829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79C596-A427-D146-94C0-364D96D7B5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C776EF-D541-F9F1-D25B-3516131665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B412D-C7FD-104D-D8EC-F90342187CF1}"/>
              </a:ext>
            </a:extLst>
          </p:cNvPr>
          <p:cNvSpPr>
            <a:spLocks noGrp="1"/>
          </p:cNvSpPr>
          <p:nvPr>
            <p:ph type="dt" sz="half" idx="10"/>
          </p:nvPr>
        </p:nvSpPr>
        <p:spPr/>
        <p:txBody>
          <a:bodyPr/>
          <a:lstStyle/>
          <a:p>
            <a:fld id="{04DAA91A-AC87-C240-8B9B-8BF8825FE8F9}" type="datetimeFigureOut">
              <a:rPr lang="en-US" smtClean="0"/>
              <a:t>5/1/2026</a:t>
            </a:fld>
            <a:endParaRPr lang="en-US"/>
          </a:p>
        </p:txBody>
      </p:sp>
      <p:sp>
        <p:nvSpPr>
          <p:cNvPr id="5" name="Footer Placeholder 4">
            <a:extLst>
              <a:ext uri="{FF2B5EF4-FFF2-40B4-BE49-F238E27FC236}">
                <a16:creationId xmlns:a16="http://schemas.microsoft.com/office/drawing/2014/main" id="{7F4C7C53-A3F5-3DB7-D6D5-DAEA0CC35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D667F-AA88-9081-8770-B3D7C958E804}"/>
              </a:ext>
            </a:extLst>
          </p:cNvPr>
          <p:cNvSpPr>
            <a:spLocks noGrp="1"/>
          </p:cNvSpPr>
          <p:nvPr>
            <p:ph type="sldNum" sz="quarter" idx="12"/>
          </p:nvPr>
        </p:nvSpPr>
        <p:spPr/>
        <p:txBody>
          <a:bodyPr/>
          <a:lstStyle/>
          <a:p>
            <a:fld id="{99E1D942-77E4-E042-80F4-46BB8DAB7ECD}" type="slidenum">
              <a:rPr lang="en-US" smtClean="0"/>
              <a:t>‹#›</a:t>
            </a:fld>
            <a:endParaRPr lang="en-US"/>
          </a:p>
        </p:txBody>
      </p:sp>
    </p:spTree>
    <p:extLst>
      <p:ext uri="{BB962C8B-B14F-4D97-AF65-F5344CB8AC3E}">
        <p14:creationId xmlns:p14="http://schemas.microsoft.com/office/powerpoint/2010/main" val="2705532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13"/>
          <p:cNvSpPr>
            <a:spLocks noGrp="1"/>
          </p:cNvSpPr>
          <p:nvPr>
            <p:ph type="dt" sz="half" idx="10"/>
          </p:nvPr>
        </p:nvSpPr>
        <p:spPr/>
        <p:txBody>
          <a:bodyPr/>
          <a:lstStyle>
            <a:lvl1pPr eaLnBrk="0" fontAlgn="base" hangingPunct="0">
              <a:spcBef>
                <a:spcPct val="0"/>
              </a:spcBef>
              <a:spcAft>
                <a:spcPct val="0"/>
              </a:spcAft>
              <a:defRPr/>
            </a:lvl1pPr>
          </a:lstStyle>
          <a:p>
            <a:pPr>
              <a:defRPr/>
            </a:pPr>
            <a:fld id="{13453A32-82BD-4BAB-B389-5190369D8A56}" type="datetime1">
              <a:rPr lang="en-US"/>
              <a:pPr>
                <a:defRPr/>
              </a:pPr>
              <a:t>5/1/2026</a:t>
            </a:fld>
            <a:endParaRPr lang="en-US" dirty="0"/>
          </a:p>
        </p:txBody>
      </p:sp>
      <p:sp>
        <p:nvSpPr>
          <p:cNvPr id="5" name="Slide Number Placeholder 14"/>
          <p:cNvSpPr>
            <a:spLocks noGrp="1"/>
          </p:cNvSpPr>
          <p:nvPr>
            <p:ph type="sldNum" sz="quarter" idx="11"/>
          </p:nvPr>
        </p:nvSpPr>
        <p:spPr/>
        <p:txBody>
          <a:bodyPr/>
          <a:lstStyle>
            <a:lvl1pPr eaLnBrk="0" fontAlgn="base" hangingPunct="0">
              <a:spcBef>
                <a:spcPct val="0"/>
              </a:spcBef>
              <a:spcAft>
                <a:spcPct val="0"/>
              </a:spcAft>
              <a:defRPr/>
            </a:lvl1pPr>
          </a:lstStyle>
          <a:p>
            <a:pPr>
              <a:defRPr/>
            </a:pPr>
            <a:fld id="{AF9D2CDB-EE7D-4899-8CF1-1680AE44335E}" type="slidenum">
              <a:rPr lang="en-US"/>
              <a:pPr>
                <a:defRPr/>
              </a:pPr>
              <a:t>‹#›</a:t>
            </a:fld>
            <a:endParaRPr lang="en-US" dirty="0"/>
          </a:p>
        </p:txBody>
      </p:sp>
      <p:sp>
        <p:nvSpPr>
          <p:cNvPr id="6" name="Footer Placeholder 15"/>
          <p:cNvSpPr>
            <a:spLocks noGrp="1"/>
          </p:cNvSpPr>
          <p:nvPr>
            <p:ph type="ftr" sz="quarter" idx="12"/>
          </p:nvPr>
        </p:nvSpPr>
        <p:spPr>
          <a:xfrm>
            <a:off x="4165600" y="6356353"/>
            <a:ext cx="3860800" cy="365125"/>
          </a:xfrm>
        </p:spPr>
        <p:txBody>
          <a:bodyPr/>
          <a:lstStyle>
            <a:lvl1pPr eaLnBrk="0" fontAlgn="auto" hangingPunct="0">
              <a:spcBef>
                <a:spcPts val="0"/>
              </a:spcBef>
              <a:spcAft>
                <a:spcPts val="0"/>
              </a:spcAft>
              <a:defRPr>
                <a:solidFill>
                  <a:prstClr val="black"/>
                </a:solidFill>
                <a:latin typeface="+mn-lt"/>
                <a:cs typeface="+mn-cs"/>
              </a:defRPr>
            </a:lvl1pPr>
          </a:lstStyle>
          <a:p>
            <a:pPr>
              <a:defRPr/>
            </a:pPr>
            <a:endParaRPr lang="en-US"/>
          </a:p>
        </p:txBody>
      </p:sp>
    </p:spTree>
    <p:extLst>
      <p:ext uri="{BB962C8B-B14F-4D97-AF65-F5344CB8AC3E}">
        <p14:creationId xmlns:p14="http://schemas.microsoft.com/office/powerpoint/2010/main" val="2408104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3076C1-5AE5-F452-67C5-0D998B206C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302E4-C544-1305-B923-4A11773E2C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1C92E-6D3E-2AF2-D2AD-6A381A9780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DAA91A-AC87-C240-8B9B-8BF8825FE8F9}" type="datetimeFigureOut">
              <a:rPr lang="en-US" smtClean="0"/>
              <a:t>5/1/2026</a:t>
            </a:fld>
            <a:endParaRPr lang="en-US"/>
          </a:p>
        </p:txBody>
      </p:sp>
      <p:sp>
        <p:nvSpPr>
          <p:cNvPr id="5" name="Footer Placeholder 4">
            <a:extLst>
              <a:ext uri="{FF2B5EF4-FFF2-40B4-BE49-F238E27FC236}">
                <a16:creationId xmlns:a16="http://schemas.microsoft.com/office/drawing/2014/main" id="{7EB9B0A8-2A7C-499D-3E73-A71FACACB4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3DE8F6-E46E-D068-5370-BB3788274A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E1D942-77E4-E042-80F4-46BB8DAB7ECD}" type="slidenum">
              <a:rPr lang="en-US" smtClean="0"/>
              <a:t>‹#›</a:t>
            </a:fld>
            <a:endParaRPr lang="en-US"/>
          </a:p>
        </p:txBody>
      </p:sp>
    </p:spTree>
    <p:extLst>
      <p:ext uri="{BB962C8B-B14F-4D97-AF65-F5344CB8AC3E}">
        <p14:creationId xmlns:p14="http://schemas.microsoft.com/office/powerpoint/2010/main" val="3261952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4" name="Straight Connector 73">
            <a:extLst>
              <a:ext uri="{FF2B5EF4-FFF2-40B4-BE49-F238E27FC236}">
                <a16:creationId xmlns:a16="http://schemas.microsoft.com/office/drawing/2014/main" id="{167C3245-1D4D-263F-8949-80ADB3799A10}"/>
              </a:ext>
            </a:extLst>
          </p:cNvPr>
          <p:cNvCxnSpPr>
            <a:cxnSpLocks/>
          </p:cNvCxnSpPr>
          <p:nvPr/>
        </p:nvCxnSpPr>
        <p:spPr>
          <a:xfrm flipH="1" flipV="1">
            <a:off x="7633207" y="1085487"/>
            <a:ext cx="8233" cy="4717087"/>
          </a:xfrm>
          <a:prstGeom prst="line">
            <a:avLst/>
          </a:prstGeom>
          <a:ln w="28575">
            <a:solidFill>
              <a:schemeClr val="tx1">
                <a:lumMod val="95000"/>
                <a:lumOff val="5000"/>
              </a:schemeClr>
            </a:solidFill>
            <a:prstDash val="dash"/>
          </a:ln>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3A7B458B-E1F8-B549-31B6-2F1D43131B31}"/>
              </a:ext>
            </a:extLst>
          </p:cNvPr>
          <p:cNvCxnSpPr>
            <a:cxnSpLocks/>
          </p:cNvCxnSpPr>
          <p:nvPr/>
        </p:nvCxnSpPr>
        <p:spPr>
          <a:xfrm flipH="1" flipV="1">
            <a:off x="4992215" y="1086819"/>
            <a:ext cx="3737" cy="4717087"/>
          </a:xfrm>
          <a:prstGeom prst="line">
            <a:avLst/>
          </a:prstGeom>
          <a:ln w="28575">
            <a:solidFill>
              <a:schemeClr val="tx1">
                <a:lumMod val="95000"/>
                <a:lumOff val="5000"/>
              </a:schemeClr>
            </a:solidFill>
            <a:prstDash val="dash"/>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B94EDD99-47DF-4632-BC40-1990E369BC78}"/>
              </a:ext>
            </a:extLst>
          </p:cNvPr>
          <p:cNvSpPr txBox="1">
            <a:spLocks/>
          </p:cNvSpPr>
          <p:nvPr/>
        </p:nvSpPr>
        <p:spPr>
          <a:xfrm>
            <a:off x="2049131" y="1"/>
            <a:ext cx="8191860" cy="400109"/>
          </a:xfrm>
          <a:prstGeom prst="rect">
            <a:avLst/>
          </a:prstGeom>
          <a:solidFill>
            <a:schemeClr val="bg1"/>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3200" b="1" kern="1200" baseline="0">
                <a:solidFill>
                  <a:schemeClr val="tx1"/>
                </a:solidFill>
                <a:latin typeface=" Arial"/>
                <a:ea typeface="+mj-ea"/>
                <a:cs typeface="Arial" panose="020B0604020202020204" pitchFamily="34" charset="0"/>
              </a:defRPr>
            </a:lvl1pPr>
          </a:lstStyle>
          <a:p>
            <a:pPr>
              <a:defRPr/>
            </a:pPr>
            <a:r>
              <a:rPr lang="en-US" sz="2400" dirty="0">
                <a:solidFill>
                  <a:prstClr val="black"/>
                </a:solidFill>
                <a:latin typeface="+mj-lt"/>
              </a:rPr>
              <a:t>DCCS/</a:t>
            </a:r>
            <a:r>
              <a:rPr lang="en-US" sz="2400" dirty="0" err="1">
                <a:solidFill>
                  <a:prstClr val="black"/>
                </a:solidFill>
                <a:latin typeface="+mj-lt"/>
              </a:rPr>
              <a:t>MSCoE</a:t>
            </a:r>
            <a:r>
              <a:rPr lang="en-US" sz="2400" dirty="0">
                <a:solidFill>
                  <a:prstClr val="black"/>
                </a:solidFill>
                <a:latin typeface="+mj-lt"/>
              </a:rPr>
              <a:t> Surgeon Operational Design - </a:t>
            </a:r>
            <a:r>
              <a:rPr lang="en-US" sz="2400" dirty="0">
                <a:solidFill>
                  <a:srgbClr val="0000FF"/>
                </a:solidFill>
                <a:latin typeface="+mj-lt"/>
              </a:rPr>
              <a:t>2027</a:t>
            </a:r>
          </a:p>
        </p:txBody>
      </p:sp>
      <p:sp>
        <p:nvSpPr>
          <p:cNvPr id="4" name="Arrow: Right 3">
            <a:extLst>
              <a:ext uri="{FF2B5EF4-FFF2-40B4-BE49-F238E27FC236}">
                <a16:creationId xmlns:a16="http://schemas.microsoft.com/office/drawing/2014/main" id="{3896FEAE-D033-6033-410F-DD3CF3392515}"/>
              </a:ext>
            </a:extLst>
          </p:cNvPr>
          <p:cNvSpPr/>
          <p:nvPr/>
        </p:nvSpPr>
        <p:spPr>
          <a:xfrm>
            <a:off x="2835849" y="1591432"/>
            <a:ext cx="7416889" cy="908049"/>
          </a:xfrm>
          <a:prstGeom prst="rightArrow">
            <a:avLst>
              <a:gd name="adj1" fmla="val 50000"/>
              <a:gd name="adj2" fmla="val 51630"/>
            </a:avLst>
          </a:prstGeom>
          <a:solidFill>
            <a:schemeClr val="accent1">
              <a:lumMod val="20000"/>
              <a:lumOff val="80000"/>
            </a:schemeClr>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endParaRPr lang="en-US">
              <a:solidFill>
                <a:prstClr val="white"/>
              </a:solidFill>
              <a:latin typeface="+mj-lt"/>
            </a:endParaRPr>
          </a:p>
        </p:txBody>
      </p:sp>
      <p:sp>
        <p:nvSpPr>
          <p:cNvPr id="9" name="TextBox 8">
            <a:extLst>
              <a:ext uri="{FF2B5EF4-FFF2-40B4-BE49-F238E27FC236}">
                <a16:creationId xmlns:a16="http://schemas.microsoft.com/office/drawing/2014/main" id="{2E6484F6-9371-FD9A-74C0-1BF73A09568A}"/>
              </a:ext>
            </a:extLst>
          </p:cNvPr>
          <p:cNvSpPr txBox="1"/>
          <p:nvPr/>
        </p:nvSpPr>
        <p:spPr>
          <a:xfrm>
            <a:off x="2842714" y="1838439"/>
            <a:ext cx="6938595" cy="261610"/>
          </a:xfrm>
          <a:prstGeom prst="rect">
            <a:avLst/>
          </a:prstGeom>
          <a:noFill/>
        </p:spPr>
        <p:txBody>
          <a:bodyPr wrap="square" rtlCol="0">
            <a:spAutoFit/>
          </a:bodyPr>
          <a:lstStyle/>
          <a:p>
            <a:pPr>
              <a:defRPr/>
            </a:pPr>
            <a:r>
              <a:rPr lang="en-US" sz="1100" dirty="0"/>
              <a:t>Deliver reliable, high-quality healthcare that exceeds DHA standards for access and performance.</a:t>
            </a:r>
            <a:endParaRPr lang="en-US" sz="1100" i="1" dirty="0">
              <a:solidFill>
                <a:prstClr val="black"/>
              </a:solidFill>
              <a:latin typeface="+mj-lt"/>
            </a:endParaRPr>
          </a:p>
        </p:txBody>
      </p:sp>
      <p:sp>
        <p:nvSpPr>
          <p:cNvPr id="3" name="Rectangle 2">
            <a:extLst>
              <a:ext uri="{FF2B5EF4-FFF2-40B4-BE49-F238E27FC236}">
                <a16:creationId xmlns:a16="http://schemas.microsoft.com/office/drawing/2014/main" id="{F70CEDEE-8DAC-1B52-A132-3F1C87B3668B}"/>
              </a:ext>
            </a:extLst>
          </p:cNvPr>
          <p:cNvSpPr/>
          <p:nvPr/>
        </p:nvSpPr>
        <p:spPr>
          <a:xfrm>
            <a:off x="1524076" y="323809"/>
            <a:ext cx="9144000" cy="597828"/>
          </a:xfrm>
          <a:prstGeom prst="rect">
            <a:avLst/>
          </a:prstGeom>
          <a:noFill/>
          <a:ln>
            <a:noFill/>
          </a:ln>
        </p:spPr>
        <p:style>
          <a:lnRef idx="1">
            <a:schemeClr val="dk1"/>
          </a:lnRef>
          <a:fillRef idx="2">
            <a:schemeClr val="dk1"/>
          </a:fillRef>
          <a:effectRef idx="1">
            <a:schemeClr val="dk1"/>
          </a:effectRef>
          <a:fontRef idx="minor">
            <a:schemeClr val="dk1"/>
          </a:fontRef>
        </p:style>
        <p:txBody>
          <a:bodyPr wrap="square">
            <a:noAutofit/>
          </a:bodyPr>
          <a:lstStyle/>
          <a:p>
            <a:pPr algn="ctr"/>
            <a:endParaRPr lang="en-US" dirty="0">
              <a:ln w="0">
                <a:solidFill>
                  <a:schemeClr val="tx1"/>
                </a:solidFill>
              </a:ln>
              <a:noFill/>
              <a:effectLst>
                <a:outerShdw blurRad="38100" dist="19050" dir="2700000" algn="tl" rotWithShape="0">
                  <a:schemeClr val="dk1">
                    <a:alpha val="40000"/>
                  </a:schemeClr>
                </a:outerShdw>
              </a:effectLst>
              <a:latin typeface="+mj-lt"/>
            </a:endParaRPr>
          </a:p>
        </p:txBody>
      </p:sp>
      <p:sp>
        <p:nvSpPr>
          <p:cNvPr id="14" name="Rectangle 13">
            <a:extLst>
              <a:ext uri="{FF2B5EF4-FFF2-40B4-BE49-F238E27FC236}">
                <a16:creationId xmlns:a16="http://schemas.microsoft.com/office/drawing/2014/main" id="{238E8AE7-0889-F35C-98A2-3FFB800DC213}"/>
              </a:ext>
            </a:extLst>
          </p:cNvPr>
          <p:cNvSpPr/>
          <p:nvPr/>
        </p:nvSpPr>
        <p:spPr>
          <a:xfrm>
            <a:off x="102427" y="1021818"/>
            <a:ext cx="1595412" cy="4788699"/>
          </a:xfrm>
          <a:prstGeom prst="rect">
            <a:avLst/>
          </a:prstGeom>
          <a:solidFill>
            <a:srgbClr val="FFC000">
              <a:alpha val="50000"/>
            </a:srgbClr>
          </a:solidFill>
          <a:ln>
            <a:solidFill>
              <a:schemeClr val="tx1"/>
            </a:solidFill>
          </a:ln>
        </p:spPr>
        <p:style>
          <a:lnRef idx="2">
            <a:schemeClr val="accent6"/>
          </a:lnRef>
          <a:fillRef idx="1">
            <a:schemeClr val="lt1"/>
          </a:fillRef>
          <a:effectRef idx="0">
            <a:schemeClr val="accent6"/>
          </a:effectRef>
          <a:fontRef idx="minor">
            <a:schemeClr val="dk1"/>
          </a:fontRef>
        </p:style>
        <p:txBody>
          <a:bodyPr wrap="square">
            <a:noAutofit/>
          </a:bodyPr>
          <a:lstStyle/>
          <a:p>
            <a:pPr algn="ctr"/>
            <a:r>
              <a:rPr lang="en-US" sz="1200" b="1" u="sng" dirty="0">
                <a:latin typeface="+mj-lt"/>
              </a:rPr>
              <a:t>2025 Current State</a:t>
            </a:r>
          </a:p>
          <a:p>
            <a:endParaRPr lang="en-US" sz="1200" u="sng" dirty="0">
              <a:latin typeface="+mj-lt"/>
              <a:ea typeface="Aptos" panose="020B0004020202020204" pitchFamily="34" charset="0"/>
              <a:cs typeface="Aptos" panose="020B0004020202020204" pitchFamily="34" charset="0"/>
            </a:endParaRPr>
          </a:p>
          <a:p>
            <a:r>
              <a:rPr lang="en-US" sz="1200" dirty="0"/>
              <a:t>GLWACH is a reactive system underperforming on DHA scorecards, where critical staffing shortages create mission-failure risk, unsustainable primary care access, and an overloaded ER. These systemic performance gaps, compounded by a lack of unit-level safety accountability, strain the </a:t>
            </a:r>
            <a:r>
              <a:rPr lang="en-US" sz="1200" dirty="0" err="1"/>
              <a:t>MSCoE</a:t>
            </a:r>
            <a:r>
              <a:rPr lang="en-US" sz="1200" dirty="0"/>
              <a:t> partnership and directly hinder the training mission</a:t>
            </a:r>
            <a:r>
              <a:rPr lang="en-US" sz="1100" dirty="0"/>
              <a:t>.</a:t>
            </a:r>
            <a:endParaRPr lang="en-US" sz="1200" dirty="0">
              <a:latin typeface="+mj-lt"/>
            </a:endParaRPr>
          </a:p>
        </p:txBody>
      </p:sp>
      <p:sp>
        <p:nvSpPr>
          <p:cNvPr id="23" name="Rectangle 22">
            <a:extLst>
              <a:ext uri="{FF2B5EF4-FFF2-40B4-BE49-F238E27FC236}">
                <a16:creationId xmlns:a16="http://schemas.microsoft.com/office/drawing/2014/main" id="{228734F2-B11E-8A75-334E-4FD571CE6E59}"/>
              </a:ext>
            </a:extLst>
          </p:cNvPr>
          <p:cNvSpPr/>
          <p:nvPr/>
        </p:nvSpPr>
        <p:spPr>
          <a:xfrm>
            <a:off x="10332094" y="1014672"/>
            <a:ext cx="1697201" cy="4788699"/>
          </a:xfrm>
          <a:prstGeom prst="rect">
            <a:avLst/>
          </a:prstGeom>
          <a:solidFill>
            <a:srgbClr val="00B050">
              <a:alpha val="95000"/>
            </a:srgbClr>
          </a:solidFill>
          <a:ln>
            <a:solidFill>
              <a:schemeClr val="tx1"/>
            </a:solidFill>
          </a:ln>
        </p:spPr>
        <p:style>
          <a:lnRef idx="2">
            <a:schemeClr val="accent3"/>
          </a:lnRef>
          <a:fillRef idx="1">
            <a:schemeClr val="lt1"/>
          </a:fillRef>
          <a:effectRef idx="0">
            <a:schemeClr val="accent3"/>
          </a:effectRef>
          <a:fontRef idx="minor">
            <a:schemeClr val="dk1"/>
          </a:fontRef>
        </p:style>
        <p:txBody>
          <a:bodyPr wrap="square">
            <a:noAutofit/>
          </a:bodyPr>
          <a:lstStyle/>
          <a:p>
            <a:pPr algn="ctr"/>
            <a:r>
              <a:rPr lang="en-US" sz="1200" b="1" u="sng" dirty="0">
                <a:solidFill>
                  <a:schemeClr val="bg1"/>
                </a:solidFill>
                <a:latin typeface="+mj-lt"/>
              </a:rPr>
              <a:t>2027 Desired State </a:t>
            </a:r>
            <a:r>
              <a:rPr lang="en-US" sz="1200" b="1" dirty="0">
                <a:solidFill>
                  <a:schemeClr val="bg1"/>
                </a:solidFill>
                <a:latin typeface="+mj-lt"/>
              </a:rPr>
              <a:t> </a:t>
            </a:r>
          </a:p>
          <a:p>
            <a:endParaRPr lang="en-US" sz="1100" dirty="0">
              <a:solidFill>
                <a:schemeClr val="bg1"/>
              </a:solidFill>
              <a:latin typeface="+mj-lt"/>
              <a:ea typeface="Aptos" panose="020B0004020202020204" pitchFamily="34" charset="0"/>
              <a:cs typeface="Aptos" panose="020B0004020202020204" pitchFamily="34" charset="0"/>
            </a:endParaRPr>
          </a:p>
          <a:p>
            <a:r>
              <a:rPr lang="en-US" sz="1200" dirty="0">
                <a:solidFill>
                  <a:schemeClr val="bg1"/>
                </a:solidFill>
              </a:rPr>
              <a:t>Be a </a:t>
            </a:r>
            <a:r>
              <a:rPr lang="en-US" sz="1200" b="1" dirty="0">
                <a:solidFill>
                  <a:schemeClr val="bg1"/>
                </a:solidFill>
              </a:rPr>
              <a:t>High Reliability Organization</a:t>
            </a:r>
            <a:r>
              <a:rPr lang="en-US" sz="1200" dirty="0">
                <a:solidFill>
                  <a:schemeClr val="bg1"/>
                </a:solidFill>
              </a:rPr>
              <a:t> consistently meeting DHA standards, where an integrated trainee care model and technologically empowered staff deliver the right care, right place, right time, protect the ER, and drive clinical efficiency. This foundation reinforced by accountable unit leaders, will forge a </a:t>
            </a:r>
            <a:r>
              <a:rPr lang="en-US" sz="1200" b="1" dirty="0">
                <a:solidFill>
                  <a:schemeClr val="bg1"/>
                </a:solidFill>
              </a:rPr>
              <a:t>fully integrated partnership with </a:t>
            </a:r>
            <a:r>
              <a:rPr lang="en-US" sz="1200" b="1" dirty="0" err="1">
                <a:solidFill>
                  <a:schemeClr val="bg1"/>
                </a:solidFill>
              </a:rPr>
              <a:t>MSCoE</a:t>
            </a:r>
            <a:r>
              <a:rPr lang="en-US" sz="1200" dirty="0">
                <a:solidFill>
                  <a:schemeClr val="bg1"/>
                </a:solidFill>
              </a:rPr>
              <a:t> that directly enables the training mission.</a:t>
            </a:r>
            <a:endParaRPr lang="en-US" sz="1200" dirty="0">
              <a:solidFill>
                <a:schemeClr val="bg1"/>
              </a:solidFill>
              <a:latin typeface="+mj-lt"/>
              <a:ea typeface="Aptos" panose="020B0004020202020204" pitchFamily="34" charset="0"/>
              <a:cs typeface="Aptos" panose="020B0004020202020204" pitchFamily="34" charset="0"/>
            </a:endParaRPr>
          </a:p>
        </p:txBody>
      </p:sp>
      <p:sp>
        <p:nvSpPr>
          <p:cNvPr id="45" name="Rectangle: Rounded Corners 44">
            <a:extLst>
              <a:ext uri="{FF2B5EF4-FFF2-40B4-BE49-F238E27FC236}">
                <a16:creationId xmlns:a16="http://schemas.microsoft.com/office/drawing/2014/main" id="{02724630-DD31-6A6A-E3A4-176AC0F332D7}"/>
              </a:ext>
            </a:extLst>
          </p:cNvPr>
          <p:cNvSpPr/>
          <p:nvPr/>
        </p:nvSpPr>
        <p:spPr>
          <a:xfrm>
            <a:off x="1939261" y="1818564"/>
            <a:ext cx="875727" cy="445166"/>
          </a:xfrm>
          <a:prstGeom prst="roundRect">
            <a:avLst/>
          </a:prstGeom>
          <a:solidFill>
            <a:schemeClr val="accent1">
              <a:lumMod val="20000"/>
              <a:lumOff val="80000"/>
            </a:schemeClr>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sz="1000" dirty="0"/>
              <a:t>Medically Ready Force</a:t>
            </a:r>
            <a:endParaRPr lang="en-US" sz="1000" dirty="0">
              <a:solidFill>
                <a:prstClr val="black"/>
              </a:solidFill>
              <a:latin typeface="+mj-lt"/>
            </a:endParaRPr>
          </a:p>
        </p:txBody>
      </p:sp>
      <p:sp>
        <p:nvSpPr>
          <p:cNvPr id="48" name="Arrow: Right 47">
            <a:extLst>
              <a:ext uri="{FF2B5EF4-FFF2-40B4-BE49-F238E27FC236}">
                <a16:creationId xmlns:a16="http://schemas.microsoft.com/office/drawing/2014/main" id="{0178CBE7-BDAA-7F1B-B407-BC42F3A9DD1C}"/>
              </a:ext>
            </a:extLst>
          </p:cNvPr>
          <p:cNvSpPr/>
          <p:nvPr/>
        </p:nvSpPr>
        <p:spPr>
          <a:xfrm>
            <a:off x="2835850" y="2790893"/>
            <a:ext cx="7416470" cy="908049"/>
          </a:xfrm>
          <a:prstGeom prst="rightArrow">
            <a:avLst>
              <a:gd name="adj1" fmla="val 50000"/>
              <a:gd name="adj2" fmla="val 51630"/>
            </a:avLst>
          </a:prstGeom>
          <a:solidFill>
            <a:schemeClr val="bg2"/>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en-US">
              <a:solidFill>
                <a:prstClr val="white"/>
              </a:solidFill>
              <a:latin typeface="+mj-lt"/>
            </a:endParaRPr>
          </a:p>
        </p:txBody>
      </p:sp>
      <p:sp>
        <p:nvSpPr>
          <p:cNvPr id="49" name="TextBox 48">
            <a:extLst>
              <a:ext uri="{FF2B5EF4-FFF2-40B4-BE49-F238E27FC236}">
                <a16:creationId xmlns:a16="http://schemas.microsoft.com/office/drawing/2014/main" id="{9F143138-5B5A-A1EE-B501-A9898A6FC94A}"/>
              </a:ext>
            </a:extLst>
          </p:cNvPr>
          <p:cNvSpPr txBox="1"/>
          <p:nvPr/>
        </p:nvSpPr>
        <p:spPr>
          <a:xfrm>
            <a:off x="2824686" y="3020250"/>
            <a:ext cx="6956623" cy="430887"/>
          </a:xfrm>
          <a:prstGeom prst="rect">
            <a:avLst/>
          </a:prstGeom>
          <a:noFill/>
        </p:spPr>
        <p:txBody>
          <a:bodyPr wrap="square" rtlCol="0">
            <a:spAutoFit/>
          </a:bodyPr>
          <a:lstStyle/>
          <a:p>
            <a:pPr>
              <a:defRPr/>
            </a:pPr>
            <a:r>
              <a:rPr lang="en-US" sz="1100" dirty="0"/>
              <a:t>Develop and empower a professional, technologically proficient, and resilient medical team capable of executing the mission with initiative.</a:t>
            </a:r>
            <a:endParaRPr lang="en-US" sz="1100" i="1" dirty="0">
              <a:solidFill>
                <a:prstClr val="black"/>
              </a:solidFill>
              <a:latin typeface="+mj-lt"/>
            </a:endParaRPr>
          </a:p>
        </p:txBody>
      </p:sp>
      <p:sp>
        <p:nvSpPr>
          <p:cNvPr id="50" name="Rectangle: Rounded Corners 49">
            <a:extLst>
              <a:ext uri="{FF2B5EF4-FFF2-40B4-BE49-F238E27FC236}">
                <a16:creationId xmlns:a16="http://schemas.microsoft.com/office/drawing/2014/main" id="{C194944B-7B99-A81D-5DB2-7ADF29424CAC}"/>
              </a:ext>
            </a:extLst>
          </p:cNvPr>
          <p:cNvSpPr/>
          <p:nvPr/>
        </p:nvSpPr>
        <p:spPr>
          <a:xfrm>
            <a:off x="1939680" y="3018418"/>
            <a:ext cx="856645" cy="452993"/>
          </a:xfrm>
          <a:prstGeom prst="roundRect">
            <a:avLst/>
          </a:prstGeom>
          <a:solidFill>
            <a:schemeClr val="bg2"/>
          </a:solidFill>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1000" dirty="0"/>
              <a:t>Ready Medical Force</a:t>
            </a:r>
            <a:endParaRPr lang="en-US" sz="1000" dirty="0">
              <a:solidFill>
                <a:prstClr val="black"/>
              </a:solidFill>
              <a:latin typeface="+mj-lt"/>
            </a:endParaRPr>
          </a:p>
        </p:txBody>
      </p:sp>
      <p:sp>
        <p:nvSpPr>
          <p:cNvPr id="51" name="Arrow: Right 50">
            <a:extLst>
              <a:ext uri="{FF2B5EF4-FFF2-40B4-BE49-F238E27FC236}">
                <a16:creationId xmlns:a16="http://schemas.microsoft.com/office/drawing/2014/main" id="{48934BC1-1AE1-A5FA-841D-79E11675BFB1}"/>
              </a:ext>
            </a:extLst>
          </p:cNvPr>
          <p:cNvSpPr/>
          <p:nvPr/>
        </p:nvSpPr>
        <p:spPr>
          <a:xfrm>
            <a:off x="2835849" y="4011594"/>
            <a:ext cx="7404500" cy="908049"/>
          </a:xfrm>
          <a:prstGeom prst="rightArrow">
            <a:avLst>
              <a:gd name="adj1" fmla="val 50000"/>
              <a:gd name="adj2" fmla="val 51630"/>
            </a:avLst>
          </a:prstGeom>
          <a:solidFill>
            <a:schemeClr val="accent5">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en-US">
              <a:solidFill>
                <a:prstClr val="white"/>
              </a:solidFill>
              <a:latin typeface="+mj-lt"/>
            </a:endParaRPr>
          </a:p>
        </p:txBody>
      </p:sp>
      <p:sp>
        <p:nvSpPr>
          <p:cNvPr id="52" name="TextBox 51">
            <a:extLst>
              <a:ext uri="{FF2B5EF4-FFF2-40B4-BE49-F238E27FC236}">
                <a16:creationId xmlns:a16="http://schemas.microsoft.com/office/drawing/2014/main" id="{47D50F31-4E11-232F-5B34-F61834CD4534}"/>
              </a:ext>
            </a:extLst>
          </p:cNvPr>
          <p:cNvSpPr txBox="1"/>
          <p:nvPr/>
        </p:nvSpPr>
        <p:spPr>
          <a:xfrm>
            <a:off x="2879980" y="4247419"/>
            <a:ext cx="6901329" cy="430887"/>
          </a:xfrm>
          <a:prstGeom prst="rect">
            <a:avLst/>
          </a:prstGeom>
          <a:noFill/>
        </p:spPr>
        <p:txBody>
          <a:bodyPr wrap="square" rtlCol="0">
            <a:spAutoFit/>
          </a:bodyPr>
          <a:lstStyle/>
          <a:p>
            <a:pPr>
              <a:defRPr/>
            </a:pPr>
            <a:r>
              <a:rPr lang="en-US" sz="1100" dirty="0"/>
              <a:t>Synchronize medical functions to support the </a:t>
            </a:r>
            <a:r>
              <a:rPr lang="en-US" sz="1100" dirty="0" err="1"/>
              <a:t>MSCoE</a:t>
            </a:r>
            <a:r>
              <a:rPr lang="en-US" sz="1100" dirty="0"/>
              <a:t> training mission by ensuring trainees receives the right care, right place, right time.</a:t>
            </a:r>
            <a:endParaRPr lang="en-US" sz="1100" i="1" dirty="0">
              <a:solidFill>
                <a:prstClr val="black"/>
              </a:solidFill>
              <a:latin typeface="+mj-lt"/>
            </a:endParaRPr>
          </a:p>
        </p:txBody>
      </p:sp>
      <p:sp>
        <p:nvSpPr>
          <p:cNvPr id="53" name="Rectangle: Rounded Corners 52">
            <a:extLst>
              <a:ext uri="{FF2B5EF4-FFF2-40B4-BE49-F238E27FC236}">
                <a16:creationId xmlns:a16="http://schemas.microsoft.com/office/drawing/2014/main" id="{34FDA88C-43F5-D4AE-6580-BB22BC6520B3}"/>
              </a:ext>
            </a:extLst>
          </p:cNvPr>
          <p:cNvSpPr/>
          <p:nvPr/>
        </p:nvSpPr>
        <p:spPr>
          <a:xfrm>
            <a:off x="1939261" y="4233860"/>
            <a:ext cx="875727" cy="445166"/>
          </a:xfrm>
          <a:prstGeom prst="roundRect">
            <a:avLst/>
          </a:prstGeom>
          <a:solidFill>
            <a:schemeClr val="accent5">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000" dirty="0" err="1"/>
              <a:t>MSCoE</a:t>
            </a:r>
            <a:r>
              <a:rPr lang="en-US" sz="1000" dirty="0"/>
              <a:t> Integration</a:t>
            </a:r>
            <a:endParaRPr lang="en-US" sz="1000" dirty="0">
              <a:solidFill>
                <a:prstClr val="black"/>
              </a:solidFill>
              <a:latin typeface="+mj-lt"/>
            </a:endParaRPr>
          </a:p>
        </p:txBody>
      </p:sp>
      <p:sp>
        <p:nvSpPr>
          <p:cNvPr id="64" name="TextBox 63">
            <a:extLst>
              <a:ext uri="{FF2B5EF4-FFF2-40B4-BE49-F238E27FC236}">
                <a16:creationId xmlns:a16="http://schemas.microsoft.com/office/drawing/2014/main" id="{F1AB3491-8FCA-DD79-FBB2-7B35BA98BE10}"/>
              </a:ext>
            </a:extLst>
          </p:cNvPr>
          <p:cNvSpPr txBox="1"/>
          <p:nvPr/>
        </p:nvSpPr>
        <p:spPr>
          <a:xfrm>
            <a:off x="2852345" y="2242299"/>
            <a:ext cx="2131637" cy="830997"/>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Optimize Critical Services PC Access, ER flow, 3SL- 176                                                       </a:t>
            </a:r>
          </a:p>
          <a:p>
            <a:pPr marL="171450" indent="-171450">
              <a:buFont typeface="Arial" panose="020B0604020202020204" pitchFamily="34" charset="0"/>
              <a:buChar char="•"/>
            </a:pPr>
            <a:r>
              <a:rPr lang="en-US" sz="800" dirty="0">
                <a:latin typeface="+mj-lt"/>
              </a:rPr>
              <a:t>Implement care ladder:  Medic-&gt; CSSP-&gt; NP-&gt;Doc</a:t>
            </a:r>
          </a:p>
          <a:p>
            <a:pPr marL="171450" indent="-171450">
              <a:buFont typeface="Arial" panose="020B0604020202020204" pitchFamily="34" charset="0"/>
              <a:buChar char="•"/>
            </a:pPr>
            <a:r>
              <a:rPr lang="en-US" sz="800" dirty="0">
                <a:latin typeface="+mj-lt"/>
              </a:rPr>
              <a:t>Designate No-Fail mission:  Hospital services/OB&gt;Gyn</a:t>
            </a:r>
          </a:p>
        </p:txBody>
      </p:sp>
      <p:sp>
        <p:nvSpPr>
          <p:cNvPr id="66" name="TextBox 65">
            <a:extLst>
              <a:ext uri="{FF2B5EF4-FFF2-40B4-BE49-F238E27FC236}">
                <a16:creationId xmlns:a16="http://schemas.microsoft.com/office/drawing/2014/main" id="{02309C00-B0B4-9AEF-C930-C3FACF0DC505}"/>
              </a:ext>
            </a:extLst>
          </p:cNvPr>
          <p:cNvSpPr txBox="1"/>
          <p:nvPr/>
        </p:nvSpPr>
        <p:spPr>
          <a:xfrm>
            <a:off x="2814988" y="1086818"/>
            <a:ext cx="2127564" cy="738664"/>
          </a:xfrm>
          <a:prstGeom prst="rect">
            <a:avLst/>
          </a:prstGeom>
          <a:noFill/>
        </p:spPr>
        <p:txBody>
          <a:bodyPr wrap="square">
            <a:spAutoFit/>
          </a:bodyPr>
          <a:lstStyle/>
          <a:p>
            <a:pPr algn="ctr"/>
            <a:r>
              <a:rPr lang="en-US" dirty="0">
                <a:latin typeface="+mj-lt"/>
              </a:rPr>
              <a:t>Phase 1 </a:t>
            </a:r>
          </a:p>
          <a:p>
            <a:pPr algn="ctr"/>
            <a:r>
              <a:rPr lang="en-US" sz="1200" dirty="0">
                <a:latin typeface="+mj-lt"/>
              </a:rPr>
              <a:t>Build</a:t>
            </a:r>
          </a:p>
          <a:p>
            <a:pPr algn="ctr"/>
            <a:r>
              <a:rPr lang="en-US" sz="1200" dirty="0">
                <a:latin typeface="+mj-lt"/>
              </a:rPr>
              <a:t>Now – 1Mar26</a:t>
            </a:r>
            <a:endParaRPr lang="en-US" dirty="0">
              <a:latin typeface="+mj-lt"/>
            </a:endParaRPr>
          </a:p>
        </p:txBody>
      </p:sp>
      <p:sp>
        <p:nvSpPr>
          <p:cNvPr id="67" name="TextBox 66">
            <a:extLst>
              <a:ext uri="{FF2B5EF4-FFF2-40B4-BE49-F238E27FC236}">
                <a16:creationId xmlns:a16="http://schemas.microsoft.com/office/drawing/2014/main" id="{B143186D-D4E3-0A74-E69E-AC55476E150B}"/>
              </a:ext>
            </a:extLst>
          </p:cNvPr>
          <p:cNvSpPr txBox="1"/>
          <p:nvPr/>
        </p:nvSpPr>
        <p:spPr>
          <a:xfrm>
            <a:off x="5056218" y="1091400"/>
            <a:ext cx="2568755" cy="738664"/>
          </a:xfrm>
          <a:prstGeom prst="rect">
            <a:avLst/>
          </a:prstGeom>
          <a:noFill/>
        </p:spPr>
        <p:txBody>
          <a:bodyPr wrap="square">
            <a:spAutoFit/>
          </a:bodyPr>
          <a:lstStyle/>
          <a:p>
            <a:pPr algn="ctr"/>
            <a:r>
              <a:rPr lang="en-US" dirty="0">
                <a:latin typeface="+mj-lt"/>
              </a:rPr>
              <a:t>Phase 2 </a:t>
            </a:r>
          </a:p>
          <a:p>
            <a:pPr algn="ctr"/>
            <a:r>
              <a:rPr lang="en-US" sz="1200" dirty="0">
                <a:latin typeface="+mj-lt"/>
              </a:rPr>
              <a:t>Improve</a:t>
            </a:r>
          </a:p>
          <a:p>
            <a:pPr algn="ctr"/>
            <a:r>
              <a:rPr lang="en-US" sz="1200" dirty="0">
                <a:latin typeface="+mj-lt"/>
              </a:rPr>
              <a:t>1Mar – 1Oct26</a:t>
            </a:r>
            <a:endParaRPr lang="en-US" dirty="0">
              <a:latin typeface="+mj-lt"/>
            </a:endParaRPr>
          </a:p>
        </p:txBody>
      </p:sp>
      <p:sp>
        <p:nvSpPr>
          <p:cNvPr id="68" name="TextBox 67">
            <a:extLst>
              <a:ext uri="{FF2B5EF4-FFF2-40B4-BE49-F238E27FC236}">
                <a16:creationId xmlns:a16="http://schemas.microsoft.com/office/drawing/2014/main" id="{DB727B34-2213-3618-4BC0-73A92C38B88C}"/>
              </a:ext>
            </a:extLst>
          </p:cNvPr>
          <p:cNvSpPr txBox="1"/>
          <p:nvPr/>
        </p:nvSpPr>
        <p:spPr>
          <a:xfrm>
            <a:off x="7687335" y="1091400"/>
            <a:ext cx="2085739" cy="738664"/>
          </a:xfrm>
          <a:prstGeom prst="rect">
            <a:avLst/>
          </a:prstGeom>
          <a:noFill/>
        </p:spPr>
        <p:txBody>
          <a:bodyPr wrap="square">
            <a:spAutoFit/>
          </a:bodyPr>
          <a:lstStyle/>
          <a:p>
            <a:pPr algn="ctr"/>
            <a:r>
              <a:rPr lang="en-US" dirty="0">
                <a:latin typeface="+mj-lt"/>
              </a:rPr>
              <a:t>Phase 3 </a:t>
            </a:r>
          </a:p>
          <a:p>
            <a:pPr algn="ctr"/>
            <a:r>
              <a:rPr lang="en-US" sz="1200" dirty="0">
                <a:latin typeface="+mj-lt"/>
              </a:rPr>
              <a:t>Refine</a:t>
            </a:r>
          </a:p>
          <a:p>
            <a:pPr algn="ctr"/>
            <a:r>
              <a:rPr lang="en-US" sz="1200" dirty="0">
                <a:latin typeface="+mj-lt"/>
              </a:rPr>
              <a:t>1Oct20- July 27</a:t>
            </a:r>
            <a:endParaRPr lang="en-US" dirty="0">
              <a:latin typeface="+mj-lt"/>
            </a:endParaRPr>
          </a:p>
        </p:txBody>
      </p:sp>
      <p:sp>
        <p:nvSpPr>
          <p:cNvPr id="81" name="TextBox 80">
            <a:extLst>
              <a:ext uri="{FF2B5EF4-FFF2-40B4-BE49-F238E27FC236}">
                <a16:creationId xmlns:a16="http://schemas.microsoft.com/office/drawing/2014/main" id="{73B47C1D-CA5A-1961-405F-4DBFCEABA8D5}"/>
              </a:ext>
            </a:extLst>
          </p:cNvPr>
          <p:cNvSpPr txBox="1"/>
          <p:nvPr/>
        </p:nvSpPr>
        <p:spPr>
          <a:xfrm>
            <a:off x="1845714" y="2268788"/>
            <a:ext cx="1034266" cy="461665"/>
          </a:xfrm>
          <a:prstGeom prst="rect">
            <a:avLst/>
          </a:prstGeom>
          <a:noFill/>
        </p:spPr>
        <p:txBody>
          <a:bodyPr wrap="square">
            <a:spAutoFit/>
          </a:bodyPr>
          <a:lstStyle/>
          <a:p>
            <a:r>
              <a:rPr lang="en-US" sz="800" dirty="0">
                <a:latin typeface="+mj-lt"/>
              </a:rPr>
              <a:t>HQ: PCSL, ER, 3SL, BH, Cred</a:t>
            </a:r>
          </a:p>
          <a:p>
            <a:r>
              <a:rPr lang="en-US" sz="800" dirty="0">
                <a:latin typeface="+mj-lt"/>
              </a:rPr>
              <a:t>Main Effort: Phase 2</a:t>
            </a:r>
          </a:p>
        </p:txBody>
      </p:sp>
      <p:sp>
        <p:nvSpPr>
          <p:cNvPr id="82" name="TextBox 81">
            <a:extLst>
              <a:ext uri="{FF2B5EF4-FFF2-40B4-BE49-F238E27FC236}">
                <a16:creationId xmlns:a16="http://schemas.microsoft.com/office/drawing/2014/main" id="{1AC1EB36-BD15-4543-834E-3987DC1E01DD}"/>
              </a:ext>
            </a:extLst>
          </p:cNvPr>
          <p:cNvSpPr txBox="1"/>
          <p:nvPr/>
        </p:nvSpPr>
        <p:spPr>
          <a:xfrm>
            <a:off x="1823887" y="3484230"/>
            <a:ext cx="1022945" cy="338554"/>
          </a:xfrm>
          <a:prstGeom prst="rect">
            <a:avLst/>
          </a:prstGeom>
          <a:noFill/>
        </p:spPr>
        <p:txBody>
          <a:bodyPr wrap="square">
            <a:spAutoFit/>
          </a:bodyPr>
          <a:lstStyle/>
          <a:p>
            <a:r>
              <a:rPr lang="en-US" sz="800" dirty="0">
                <a:latin typeface="+mj-lt"/>
              </a:rPr>
              <a:t>HQ: DCCS Leaders</a:t>
            </a:r>
          </a:p>
          <a:p>
            <a:r>
              <a:rPr lang="en-US" sz="800" dirty="0">
                <a:latin typeface="+mj-lt"/>
              </a:rPr>
              <a:t>Main Effort: Phase 3</a:t>
            </a:r>
          </a:p>
        </p:txBody>
      </p:sp>
      <p:sp>
        <p:nvSpPr>
          <p:cNvPr id="83" name="TextBox 82">
            <a:extLst>
              <a:ext uri="{FF2B5EF4-FFF2-40B4-BE49-F238E27FC236}">
                <a16:creationId xmlns:a16="http://schemas.microsoft.com/office/drawing/2014/main" id="{D3DDF283-5242-DF5F-9FE1-61473E4A3293}"/>
              </a:ext>
            </a:extLst>
          </p:cNvPr>
          <p:cNvSpPr txBox="1"/>
          <p:nvPr/>
        </p:nvSpPr>
        <p:spPr>
          <a:xfrm>
            <a:off x="1877143" y="4700927"/>
            <a:ext cx="1077843" cy="461665"/>
          </a:xfrm>
          <a:prstGeom prst="rect">
            <a:avLst/>
          </a:prstGeom>
          <a:noFill/>
        </p:spPr>
        <p:txBody>
          <a:bodyPr wrap="square">
            <a:spAutoFit/>
          </a:bodyPr>
          <a:lstStyle/>
          <a:p>
            <a:r>
              <a:rPr lang="en-US" sz="800" dirty="0">
                <a:latin typeface="+mj-lt"/>
              </a:rPr>
              <a:t>HQ: TOMS, CTMC, BH, ER</a:t>
            </a:r>
          </a:p>
          <a:p>
            <a:r>
              <a:rPr lang="en-US" sz="800" dirty="0">
                <a:solidFill>
                  <a:srgbClr val="0000FF"/>
                </a:solidFill>
                <a:highlight>
                  <a:srgbClr val="00FF00"/>
                </a:highlight>
                <a:latin typeface="+mj-lt"/>
              </a:rPr>
              <a:t>Main Effort: Phase 1</a:t>
            </a:r>
          </a:p>
        </p:txBody>
      </p:sp>
      <p:sp>
        <p:nvSpPr>
          <p:cNvPr id="85" name="TextBox 84">
            <a:extLst>
              <a:ext uri="{FF2B5EF4-FFF2-40B4-BE49-F238E27FC236}">
                <a16:creationId xmlns:a16="http://schemas.microsoft.com/office/drawing/2014/main" id="{1A3360D5-DA34-3EBE-2701-8563DC659B82}"/>
              </a:ext>
            </a:extLst>
          </p:cNvPr>
          <p:cNvSpPr txBox="1"/>
          <p:nvPr/>
        </p:nvSpPr>
        <p:spPr>
          <a:xfrm>
            <a:off x="4986933" y="2266220"/>
            <a:ext cx="2634303" cy="584775"/>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PCSL DHA Care model (Access / HEDIS)</a:t>
            </a:r>
          </a:p>
          <a:p>
            <a:pPr marL="171450" indent="-171450">
              <a:buFont typeface="Arial" panose="020B0604020202020204" pitchFamily="34" charset="0"/>
              <a:buChar char="•"/>
            </a:pPr>
            <a:r>
              <a:rPr lang="en-US" sz="800" dirty="0">
                <a:latin typeface="+mj-lt"/>
              </a:rPr>
              <a:t>ER/3SL: Improve Through put in New Facility: ER Fast track (</a:t>
            </a:r>
            <a:r>
              <a:rPr lang="en-US" sz="800" dirty="0">
                <a:solidFill>
                  <a:srgbClr val="0000FF"/>
                </a:solidFill>
                <a:latin typeface="+mj-lt"/>
              </a:rPr>
              <a:t>medic lead)</a:t>
            </a:r>
          </a:p>
          <a:p>
            <a:pPr marL="171450" indent="-171450">
              <a:buFont typeface="Arial" panose="020B0604020202020204" pitchFamily="34" charset="0"/>
              <a:buChar char="•"/>
            </a:pPr>
            <a:r>
              <a:rPr lang="en-US" sz="800" dirty="0">
                <a:latin typeface="+mj-lt"/>
              </a:rPr>
              <a:t>BH: Improve BH Targeted Care Model  BH </a:t>
            </a:r>
          </a:p>
        </p:txBody>
      </p:sp>
      <p:sp>
        <p:nvSpPr>
          <p:cNvPr id="86" name="TextBox 85">
            <a:extLst>
              <a:ext uri="{FF2B5EF4-FFF2-40B4-BE49-F238E27FC236}">
                <a16:creationId xmlns:a16="http://schemas.microsoft.com/office/drawing/2014/main" id="{3BA4965C-3EA2-4B49-8D84-89DD41E40C48}"/>
              </a:ext>
            </a:extLst>
          </p:cNvPr>
          <p:cNvSpPr txBox="1"/>
          <p:nvPr/>
        </p:nvSpPr>
        <p:spPr>
          <a:xfrm>
            <a:off x="7607987" y="2247406"/>
            <a:ext cx="2162749" cy="954107"/>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Refine PCSL flow- PI project to conduct root cause analysis of issues. </a:t>
            </a:r>
          </a:p>
          <a:p>
            <a:pPr marL="171450" indent="-171450">
              <a:buFont typeface="Arial" panose="020B0604020202020204" pitchFamily="34" charset="0"/>
              <a:buChar char="•"/>
            </a:pPr>
            <a:r>
              <a:rPr lang="en-US" sz="800" dirty="0">
                <a:latin typeface="+mj-lt"/>
              </a:rPr>
              <a:t>Refine and optimize 3SL surgery through put bottle necks (root cause analysis)</a:t>
            </a:r>
          </a:p>
          <a:p>
            <a:pPr marL="171450" indent="-171450">
              <a:buFont typeface="Arial" panose="020B0604020202020204" pitchFamily="34" charset="0"/>
              <a:buChar char="•"/>
            </a:pPr>
            <a:r>
              <a:rPr lang="en-US" sz="800" dirty="0">
                <a:latin typeface="+mj-lt"/>
              </a:rPr>
              <a:t>technology </a:t>
            </a:r>
            <a:r>
              <a:rPr lang="en-US" sz="800" dirty="0" err="1">
                <a:latin typeface="+mj-lt"/>
              </a:rPr>
              <a:t>intergrated</a:t>
            </a:r>
            <a:r>
              <a:rPr lang="en-US" sz="800" dirty="0">
                <a:latin typeface="+mj-lt"/>
              </a:rPr>
              <a:t> into day-to-day practice to ensure highest standard</a:t>
            </a:r>
          </a:p>
          <a:p>
            <a:pPr marL="171450" indent="-171450">
              <a:buFont typeface="Arial" panose="020B0604020202020204" pitchFamily="34" charset="0"/>
              <a:buChar char="•"/>
            </a:pPr>
            <a:endParaRPr lang="en-US" sz="800" dirty="0">
              <a:latin typeface="+mj-lt"/>
            </a:endParaRPr>
          </a:p>
        </p:txBody>
      </p:sp>
      <p:sp>
        <p:nvSpPr>
          <p:cNvPr id="89" name="TextBox 88">
            <a:extLst>
              <a:ext uri="{FF2B5EF4-FFF2-40B4-BE49-F238E27FC236}">
                <a16:creationId xmlns:a16="http://schemas.microsoft.com/office/drawing/2014/main" id="{21F03082-F257-8B55-51ED-161A90AAAD70}"/>
              </a:ext>
            </a:extLst>
          </p:cNvPr>
          <p:cNvSpPr txBox="1"/>
          <p:nvPr/>
        </p:nvSpPr>
        <p:spPr>
          <a:xfrm>
            <a:off x="2858803" y="3448570"/>
            <a:ext cx="2111924" cy="830997"/>
          </a:xfrm>
          <a:prstGeom prst="rect">
            <a:avLst/>
          </a:prstGeom>
          <a:noFill/>
        </p:spPr>
        <p:txBody>
          <a:bodyPr wrap="square">
            <a:spAutoFit/>
          </a:bodyPr>
          <a:lstStyle/>
          <a:p>
            <a:pPr marL="171450" indent="-171450">
              <a:buFont typeface="Arial" panose="020B0604020202020204" pitchFamily="34" charset="0"/>
              <a:buChar char="•"/>
            </a:pPr>
            <a:r>
              <a:rPr lang="en-US" sz="800" dirty="0">
                <a:latin typeface="+mj-lt"/>
              </a:rPr>
              <a:t>Introduce Efficiency Tools (AI &amp; </a:t>
            </a:r>
            <a:r>
              <a:rPr lang="en-US" sz="800" dirty="0" err="1">
                <a:latin typeface="+mj-lt"/>
              </a:rPr>
              <a:t>PowerBI</a:t>
            </a:r>
            <a:r>
              <a:rPr lang="en-US" sz="800" dirty="0">
                <a:latin typeface="+mj-lt"/>
              </a:rPr>
              <a:t>)</a:t>
            </a:r>
          </a:p>
          <a:p>
            <a:pPr marL="171450" indent="-171450">
              <a:buFont typeface="Arial" panose="020B0604020202020204" pitchFamily="34" charset="0"/>
              <a:buChar char="•"/>
            </a:pPr>
            <a:r>
              <a:rPr lang="en-US" sz="800" dirty="0">
                <a:solidFill>
                  <a:srgbClr val="0000FF"/>
                </a:solidFill>
                <a:latin typeface="+mj-lt"/>
              </a:rPr>
              <a:t>Clarify Roles: Right people right job, right direction. DELIBERATE COUNSELING</a:t>
            </a:r>
          </a:p>
          <a:p>
            <a:pPr marL="171450" indent="-171450">
              <a:buFont typeface="Arial" panose="020B0604020202020204" pitchFamily="34" charset="0"/>
              <a:buChar char="•"/>
            </a:pPr>
            <a:r>
              <a:rPr lang="en-US" sz="800" dirty="0">
                <a:latin typeface="+mj-lt"/>
              </a:rPr>
              <a:t>Accountability: Credentials, Safety standards </a:t>
            </a:r>
          </a:p>
          <a:p>
            <a:pPr marL="171450" indent="-171450">
              <a:buFont typeface="Arial" panose="020B0604020202020204" pitchFamily="34" charset="0"/>
              <a:buChar char="•"/>
            </a:pPr>
            <a:r>
              <a:rPr lang="en-US" sz="800" dirty="0">
                <a:latin typeface="+mj-lt"/>
              </a:rPr>
              <a:t>Conduct Functional Needs analysis</a:t>
            </a:r>
          </a:p>
        </p:txBody>
      </p:sp>
      <p:sp>
        <p:nvSpPr>
          <p:cNvPr id="90" name="TextBox 89">
            <a:extLst>
              <a:ext uri="{FF2B5EF4-FFF2-40B4-BE49-F238E27FC236}">
                <a16:creationId xmlns:a16="http://schemas.microsoft.com/office/drawing/2014/main" id="{DA6C02F7-DBFC-7F7B-761F-136C09A0B424}"/>
              </a:ext>
            </a:extLst>
          </p:cNvPr>
          <p:cNvSpPr txBox="1"/>
          <p:nvPr/>
        </p:nvSpPr>
        <p:spPr>
          <a:xfrm>
            <a:off x="4983983" y="4703345"/>
            <a:ext cx="2636468" cy="954107"/>
          </a:xfrm>
          <a:prstGeom prst="rect">
            <a:avLst/>
          </a:prstGeom>
          <a:noFill/>
        </p:spPr>
        <p:txBody>
          <a:bodyPr wrap="square">
            <a:spAutoFit/>
          </a:bodyPr>
          <a:lstStyle/>
          <a:p>
            <a:pPr marL="171450" indent="-171450">
              <a:buFont typeface="Arial" panose="020B0604020202020204" pitchFamily="34" charset="0"/>
              <a:buChar char="•"/>
            </a:pPr>
            <a:r>
              <a:rPr lang="en-US" sz="800" dirty="0">
                <a:latin typeface="+mj-lt"/>
              </a:rPr>
              <a:t>Standardize medical operations: Standardize key documents, training exercise OPORDS medical Annexes, BAS SOPs. </a:t>
            </a:r>
          </a:p>
          <a:p>
            <a:pPr marL="171450" indent="-171450">
              <a:buFont typeface="Arial" panose="020B0604020202020204" pitchFamily="34" charset="0"/>
              <a:buChar char="•"/>
            </a:pPr>
            <a:r>
              <a:rPr lang="en-US" sz="800" dirty="0">
                <a:solidFill>
                  <a:srgbClr val="0000FF"/>
                </a:solidFill>
                <a:latin typeface="+mj-lt"/>
              </a:rPr>
              <a:t>Establish predicative medical logistics : DCAM trained medics, ASL, burn rates, TDA to match FORCOM</a:t>
            </a:r>
          </a:p>
          <a:p>
            <a:pPr marL="171450" indent="-171450">
              <a:buFont typeface="Arial" panose="020B0604020202020204" pitchFamily="34" charset="0"/>
              <a:buChar char="•"/>
            </a:pPr>
            <a:r>
              <a:rPr lang="en-US" sz="800" dirty="0">
                <a:latin typeface="+mj-lt"/>
              </a:rPr>
              <a:t>Develop Automated Readiness tracker: Vantage to </a:t>
            </a:r>
            <a:r>
              <a:rPr lang="en-US" sz="800" dirty="0" err="1">
                <a:latin typeface="+mj-lt"/>
              </a:rPr>
              <a:t>PowerBI</a:t>
            </a:r>
            <a:r>
              <a:rPr lang="en-US" sz="800" dirty="0">
                <a:latin typeface="+mj-lt"/>
              </a:rPr>
              <a:t> medical readiness dashboard</a:t>
            </a:r>
          </a:p>
        </p:txBody>
      </p:sp>
      <p:sp>
        <p:nvSpPr>
          <p:cNvPr id="94" name="TextBox 93">
            <a:extLst>
              <a:ext uri="{FF2B5EF4-FFF2-40B4-BE49-F238E27FC236}">
                <a16:creationId xmlns:a16="http://schemas.microsoft.com/office/drawing/2014/main" id="{3D3E5C0E-700B-3C49-FFD1-7F2CA0F79A44}"/>
              </a:ext>
            </a:extLst>
          </p:cNvPr>
          <p:cNvSpPr txBox="1"/>
          <p:nvPr/>
        </p:nvSpPr>
        <p:spPr>
          <a:xfrm>
            <a:off x="4959743" y="3449349"/>
            <a:ext cx="2673463" cy="584775"/>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Reorganize Clinic for Efficiency </a:t>
            </a:r>
          </a:p>
          <a:p>
            <a:pPr marL="171450" indent="-171450">
              <a:buFont typeface="Arial" panose="020B0604020202020204" pitchFamily="34" charset="0"/>
              <a:buChar char="•"/>
            </a:pPr>
            <a:r>
              <a:rPr lang="en-US" sz="800" dirty="0">
                <a:latin typeface="+mj-lt"/>
              </a:rPr>
              <a:t> Manning Functional Need: RN/SW &amp; APPs</a:t>
            </a:r>
          </a:p>
          <a:p>
            <a:pPr marL="171450" indent="-171450">
              <a:buFont typeface="Arial" panose="020B0604020202020204" pitchFamily="34" charset="0"/>
              <a:buChar char="•"/>
            </a:pPr>
            <a:r>
              <a:rPr lang="en-US" sz="800" dirty="0">
                <a:latin typeface="+mj-lt"/>
              </a:rPr>
              <a:t>Continue to intergrade Telehealth and asynchronous  encounters</a:t>
            </a:r>
          </a:p>
        </p:txBody>
      </p:sp>
      <p:sp>
        <p:nvSpPr>
          <p:cNvPr id="95" name="TextBox 94">
            <a:extLst>
              <a:ext uri="{FF2B5EF4-FFF2-40B4-BE49-F238E27FC236}">
                <a16:creationId xmlns:a16="http://schemas.microsoft.com/office/drawing/2014/main" id="{7B70D37C-44D6-B8B1-6D70-C7782E2CAE71}"/>
              </a:ext>
            </a:extLst>
          </p:cNvPr>
          <p:cNvSpPr txBox="1"/>
          <p:nvPr/>
        </p:nvSpPr>
        <p:spPr>
          <a:xfrm>
            <a:off x="7607988" y="3487375"/>
            <a:ext cx="2173321" cy="707886"/>
          </a:xfrm>
          <a:prstGeom prst="rect">
            <a:avLst/>
          </a:prstGeom>
          <a:noFill/>
        </p:spPr>
        <p:txBody>
          <a:bodyPr wrap="square">
            <a:spAutoFit/>
          </a:bodyPr>
          <a:lstStyle/>
          <a:p>
            <a:pPr marL="171450" indent="-171450">
              <a:buFont typeface="Arial" panose="020B0604020202020204" pitchFamily="34" charset="0"/>
              <a:buChar char="•"/>
            </a:pPr>
            <a:r>
              <a:rPr lang="en-US" sz="800" dirty="0"/>
              <a:t>Implement a Deliberate Professional Development Model</a:t>
            </a:r>
          </a:p>
          <a:p>
            <a:pPr marL="171450" indent="-171450">
              <a:buFont typeface="Arial" panose="020B0604020202020204" pitchFamily="34" charset="0"/>
              <a:buChar char="•"/>
            </a:pPr>
            <a:r>
              <a:rPr lang="en-US" sz="800" dirty="0"/>
              <a:t>Prioritize Military Skills and Education</a:t>
            </a:r>
          </a:p>
          <a:p>
            <a:pPr marL="171450" indent="-171450">
              <a:buFont typeface="Arial" panose="020B0604020202020204" pitchFamily="34" charset="0"/>
              <a:buChar char="•"/>
            </a:pPr>
            <a:r>
              <a:rPr lang="en-US" sz="800" dirty="0">
                <a:solidFill>
                  <a:srgbClr val="0000FF"/>
                </a:solidFill>
                <a:latin typeface="+mj-lt"/>
              </a:rPr>
              <a:t>Execute deliberate leadership transition  plan</a:t>
            </a:r>
          </a:p>
        </p:txBody>
      </p:sp>
      <p:sp>
        <p:nvSpPr>
          <p:cNvPr id="96" name="TextBox 95">
            <a:extLst>
              <a:ext uri="{FF2B5EF4-FFF2-40B4-BE49-F238E27FC236}">
                <a16:creationId xmlns:a16="http://schemas.microsoft.com/office/drawing/2014/main" id="{8EF0C63C-5DC7-CF44-37FC-CD81B6A5CE1C}"/>
              </a:ext>
            </a:extLst>
          </p:cNvPr>
          <p:cNvSpPr txBox="1"/>
          <p:nvPr/>
        </p:nvSpPr>
        <p:spPr>
          <a:xfrm>
            <a:off x="2842713" y="4703344"/>
            <a:ext cx="2140483" cy="1200329"/>
          </a:xfrm>
          <a:prstGeom prst="rect">
            <a:avLst/>
          </a:prstGeom>
          <a:noFill/>
        </p:spPr>
        <p:txBody>
          <a:bodyPr wrap="square">
            <a:spAutoFit/>
          </a:bodyPr>
          <a:lstStyle/>
          <a:p>
            <a:pPr marL="171450" indent="-171450">
              <a:buFont typeface="Arial" panose="020B0604020202020204" pitchFamily="34" charset="0"/>
              <a:buChar char="•"/>
            </a:pPr>
            <a:r>
              <a:rPr lang="en-US" sz="800" dirty="0">
                <a:latin typeface="+mj-lt"/>
              </a:rPr>
              <a:t>Implement Trainee care model: TOMS/CTMC/ER</a:t>
            </a:r>
          </a:p>
          <a:p>
            <a:pPr marL="171450" indent="-171450">
              <a:buFont typeface="Arial" panose="020B0604020202020204" pitchFamily="34" charset="0"/>
              <a:buChar char="•"/>
            </a:pPr>
            <a:r>
              <a:rPr lang="en-US" sz="800" dirty="0">
                <a:solidFill>
                  <a:srgbClr val="0000FF"/>
                </a:solidFill>
                <a:latin typeface="+mj-lt"/>
              </a:rPr>
              <a:t>Establish </a:t>
            </a:r>
            <a:r>
              <a:rPr lang="en-US" sz="800" dirty="0" err="1">
                <a:solidFill>
                  <a:srgbClr val="0000FF"/>
                </a:solidFill>
                <a:latin typeface="+mj-lt"/>
              </a:rPr>
              <a:t>MSCoE</a:t>
            </a:r>
            <a:r>
              <a:rPr lang="en-US" sz="800" dirty="0">
                <a:solidFill>
                  <a:srgbClr val="0000FF"/>
                </a:solidFill>
                <a:latin typeface="+mj-lt"/>
              </a:rPr>
              <a:t> Surgeon Oversight: sync across BDEs</a:t>
            </a:r>
          </a:p>
          <a:p>
            <a:pPr marL="171450" indent="-171450">
              <a:buFont typeface="Arial" panose="020B0604020202020204" pitchFamily="34" charset="0"/>
              <a:buChar char="•"/>
            </a:pPr>
            <a:r>
              <a:rPr lang="en-US" sz="800" dirty="0">
                <a:latin typeface="+mj-lt"/>
              </a:rPr>
              <a:t>Executive Med: </a:t>
            </a:r>
            <a:r>
              <a:rPr lang="en-US" sz="800" dirty="0" err="1">
                <a:latin typeface="+mj-lt"/>
              </a:rPr>
              <a:t>MSCoE</a:t>
            </a:r>
            <a:r>
              <a:rPr lang="en-US" sz="800" dirty="0">
                <a:latin typeface="+mj-lt"/>
              </a:rPr>
              <a:t> Key Leaders care</a:t>
            </a:r>
          </a:p>
          <a:p>
            <a:pPr marL="171450" indent="-171450">
              <a:buFont typeface="Arial" panose="020B0604020202020204" pitchFamily="34" charset="0"/>
              <a:buChar char="•"/>
            </a:pPr>
            <a:r>
              <a:rPr lang="en-US" sz="800" dirty="0">
                <a:latin typeface="+mj-lt"/>
              </a:rPr>
              <a:t>Protect Clinic Access: SRP walk ins, Shaving/Body fat Group encounters </a:t>
            </a:r>
          </a:p>
          <a:p>
            <a:pPr marL="171450" indent="-171450">
              <a:buFont typeface="Arial" panose="020B0604020202020204" pitchFamily="34" charset="0"/>
              <a:buChar char="•"/>
            </a:pPr>
            <a:endParaRPr lang="en-US" sz="800" dirty="0">
              <a:solidFill>
                <a:srgbClr val="0000FF"/>
              </a:solidFill>
              <a:latin typeface="+mj-lt"/>
            </a:endParaRPr>
          </a:p>
          <a:p>
            <a:pPr marL="171450" indent="-171450">
              <a:buFont typeface="Arial" panose="020B0604020202020204" pitchFamily="34" charset="0"/>
              <a:buChar char="•"/>
            </a:pPr>
            <a:endParaRPr lang="en-US" sz="800" dirty="0">
              <a:latin typeface="+mj-lt"/>
            </a:endParaRPr>
          </a:p>
        </p:txBody>
      </p:sp>
      <p:sp>
        <p:nvSpPr>
          <p:cNvPr id="97" name="TextBox 96">
            <a:extLst>
              <a:ext uri="{FF2B5EF4-FFF2-40B4-BE49-F238E27FC236}">
                <a16:creationId xmlns:a16="http://schemas.microsoft.com/office/drawing/2014/main" id="{68599648-A3FB-F576-BF47-0FE5C8578F60}"/>
              </a:ext>
            </a:extLst>
          </p:cNvPr>
          <p:cNvSpPr txBox="1"/>
          <p:nvPr/>
        </p:nvSpPr>
        <p:spPr>
          <a:xfrm>
            <a:off x="7665019" y="4685538"/>
            <a:ext cx="2181074" cy="707886"/>
          </a:xfrm>
          <a:prstGeom prst="rect">
            <a:avLst/>
          </a:prstGeom>
          <a:noFill/>
        </p:spPr>
        <p:txBody>
          <a:bodyPr wrap="square">
            <a:spAutoFit/>
          </a:bodyPr>
          <a:lstStyle/>
          <a:p>
            <a:pPr marL="171450" indent="-171450">
              <a:buFont typeface="Arial" panose="020B0604020202020204" pitchFamily="34" charset="0"/>
              <a:buChar char="•"/>
            </a:pPr>
            <a:r>
              <a:rPr lang="en-US" sz="800" dirty="0">
                <a:solidFill>
                  <a:srgbClr val="0000FF"/>
                </a:solidFill>
                <a:latin typeface="+mj-lt"/>
              </a:rPr>
              <a:t>Institutionalize a continuous improvement loop </a:t>
            </a:r>
          </a:p>
          <a:p>
            <a:pPr marL="171450" indent="-171450">
              <a:buFont typeface="Arial" panose="020B0604020202020204" pitchFamily="34" charset="0"/>
              <a:buChar char="•"/>
            </a:pPr>
            <a:r>
              <a:rPr lang="en-US" sz="800" dirty="0"/>
              <a:t>Integrate Medical Readiness into the </a:t>
            </a:r>
            <a:r>
              <a:rPr lang="en-US" sz="800" dirty="0" err="1"/>
              <a:t>MSCoE</a:t>
            </a:r>
            <a:r>
              <a:rPr lang="en-US" sz="800" dirty="0"/>
              <a:t> Battle Rhythm </a:t>
            </a:r>
          </a:p>
          <a:p>
            <a:pPr marL="171450" indent="-171450">
              <a:buFont typeface="Arial" panose="020B0604020202020204" pitchFamily="34" charset="0"/>
              <a:buChar char="•"/>
            </a:pPr>
            <a:r>
              <a:rPr lang="en-US" sz="800" dirty="0"/>
              <a:t>Achieve Predictive Medical Logistics</a:t>
            </a:r>
            <a:endParaRPr lang="en-US" sz="800" dirty="0">
              <a:latin typeface="+mj-lt"/>
            </a:endParaRPr>
          </a:p>
        </p:txBody>
      </p:sp>
      <p:sp>
        <p:nvSpPr>
          <p:cNvPr id="104" name="Star: 5 Points 103">
            <a:extLst>
              <a:ext uri="{FF2B5EF4-FFF2-40B4-BE49-F238E27FC236}">
                <a16:creationId xmlns:a16="http://schemas.microsoft.com/office/drawing/2014/main" id="{C7F779E3-13B6-FBE9-2A7E-90AE45B45DC9}"/>
              </a:ext>
            </a:extLst>
          </p:cNvPr>
          <p:cNvSpPr/>
          <p:nvPr/>
        </p:nvSpPr>
        <p:spPr>
          <a:xfrm>
            <a:off x="7486956" y="2133551"/>
            <a:ext cx="280532" cy="264129"/>
          </a:xfrm>
          <a:prstGeom prst="star5">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05" name="Rectangle: Rounded Corners 104">
            <a:extLst>
              <a:ext uri="{FF2B5EF4-FFF2-40B4-BE49-F238E27FC236}">
                <a16:creationId xmlns:a16="http://schemas.microsoft.com/office/drawing/2014/main" id="{125CE15B-A7E7-4025-B8E2-B60CF4FCA435}"/>
              </a:ext>
            </a:extLst>
          </p:cNvPr>
          <p:cNvSpPr/>
          <p:nvPr/>
        </p:nvSpPr>
        <p:spPr>
          <a:xfrm>
            <a:off x="208194" y="5933139"/>
            <a:ext cx="4734358" cy="847230"/>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dirty="0">
              <a:solidFill>
                <a:prstClr val="black"/>
              </a:solidFill>
              <a:latin typeface="+mj-lt"/>
            </a:endParaRPr>
          </a:p>
        </p:txBody>
      </p:sp>
      <p:sp>
        <p:nvSpPr>
          <p:cNvPr id="108" name="Star: 5 Points 107">
            <a:extLst>
              <a:ext uri="{FF2B5EF4-FFF2-40B4-BE49-F238E27FC236}">
                <a16:creationId xmlns:a16="http://schemas.microsoft.com/office/drawing/2014/main" id="{4D76AF71-6EBA-819B-0AC8-B986E660BF9C}"/>
              </a:ext>
            </a:extLst>
          </p:cNvPr>
          <p:cNvSpPr/>
          <p:nvPr/>
        </p:nvSpPr>
        <p:spPr>
          <a:xfrm>
            <a:off x="4851065" y="4571748"/>
            <a:ext cx="268756" cy="264129"/>
          </a:xfrm>
          <a:prstGeom prst="star5">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3BEF5"/>
              </a:solidFill>
              <a:latin typeface="+mj-lt"/>
            </a:endParaRPr>
          </a:p>
        </p:txBody>
      </p:sp>
      <p:sp>
        <p:nvSpPr>
          <p:cNvPr id="112" name="Rectangle: Rounded Corners 111">
            <a:extLst>
              <a:ext uri="{FF2B5EF4-FFF2-40B4-BE49-F238E27FC236}">
                <a16:creationId xmlns:a16="http://schemas.microsoft.com/office/drawing/2014/main" id="{297543C4-26C8-565F-7849-A4A7230F946D}"/>
              </a:ext>
            </a:extLst>
          </p:cNvPr>
          <p:cNvSpPr/>
          <p:nvPr/>
        </p:nvSpPr>
        <p:spPr>
          <a:xfrm>
            <a:off x="10332094" y="5862678"/>
            <a:ext cx="1697200" cy="948367"/>
          </a:xfrm>
          <a:prstGeom prst="round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dirty="0">
                <a:solidFill>
                  <a:prstClr val="black"/>
                </a:solidFill>
                <a:latin typeface="+mj-lt"/>
              </a:rPr>
              <a:t>Projected Date: July 2027</a:t>
            </a:r>
          </a:p>
        </p:txBody>
      </p:sp>
      <p:cxnSp>
        <p:nvCxnSpPr>
          <p:cNvPr id="6" name="Straight Connector 5">
            <a:extLst>
              <a:ext uri="{FF2B5EF4-FFF2-40B4-BE49-F238E27FC236}">
                <a16:creationId xmlns:a16="http://schemas.microsoft.com/office/drawing/2014/main" id="{14274F14-186B-A8C2-58CB-B97FAAFD4535}"/>
              </a:ext>
            </a:extLst>
          </p:cNvPr>
          <p:cNvCxnSpPr/>
          <p:nvPr/>
        </p:nvCxnSpPr>
        <p:spPr>
          <a:xfrm>
            <a:off x="2760800" y="356785"/>
            <a:ext cx="6541101"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Star: 5 Points 107">
            <a:extLst>
              <a:ext uri="{FF2B5EF4-FFF2-40B4-BE49-F238E27FC236}">
                <a16:creationId xmlns:a16="http://schemas.microsoft.com/office/drawing/2014/main" id="{38ECBA2A-552E-DAFA-2F47-39788785B6C2}"/>
              </a:ext>
            </a:extLst>
          </p:cNvPr>
          <p:cNvSpPr/>
          <p:nvPr/>
        </p:nvSpPr>
        <p:spPr>
          <a:xfrm>
            <a:off x="247756" y="6022049"/>
            <a:ext cx="268756" cy="264129"/>
          </a:xfrm>
          <a:prstGeom prst="star5">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43BEF5"/>
              </a:solidFill>
              <a:latin typeface="+mj-lt"/>
            </a:endParaRPr>
          </a:p>
        </p:txBody>
      </p:sp>
      <p:sp>
        <p:nvSpPr>
          <p:cNvPr id="8" name="Star: 5 Points 103">
            <a:extLst>
              <a:ext uri="{FF2B5EF4-FFF2-40B4-BE49-F238E27FC236}">
                <a16:creationId xmlns:a16="http://schemas.microsoft.com/office/drawing/2014/main" id="{8C474D88-D655-7198-592B-F63368B7948F}"/>
              </a:ext>
            </a:extLst>
          </p:cNvPr>
          <p:cNvSpPr/>
          <p:nvPr/>
        </p:nvSpPr>
        <p:spPr>
          <a:xfrm>
            <a:off x="258118" y="6452029"/>
            <a:ext cx="280532" cy="264129"/>
          </a:xfrm>
          <a:prstGeom prst="star5">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mj-lt"/>
            </a:endParaRPr>
          </a:p>
        </p:txBody>
      </p:sp>
      <p:sp>
        <p:nvSpPr>
          <p:cNvPr id="12" name="TextBox 11">
            <a:extLst>
              <a:ext uri="{FF2B5EF4-FFF2-40B4-BE49-F238E27FC236}">
                <a16:creationId xmlns:a16="http://schemas.microsoft.com/office/drawing/2014/main" id="{CBF15E3B-B909-7DC9-7009-3BABA2435CC2}"/>
              </a:ext>
            </a:extLst>
          </p:cNvPr>
          <p:cNvSpPr txBox="1"/>
          <p:nvPr/>
        </p:nvSpPr>
        <p:spPr>
          <a:xfrm>
            <a:off x="613468" y="5997051"/>
            <a:ext cx="3304877" cy="338554"/>
          </a:xfrm>
          <a:prstGeom prst="rect">
            <a:avLst/>
          </a:prstGeom>
          <a:noFill/>
        </p:spPr>
        <p:txBody>
          <a:bodyPr wrap="square">
            <a:spAutoFit/>
          </a:bodyPr>
          <a:lstStyle/>
          <a:p>
            <a:pPr>
              <a:defRPr/>
            </a:pPr>
            <a:r>
              <a:rPr lang="en-US" sz="1600" dirty="0">
                <a:solidFill>
                  <a:prstClr val="black"/>
                </a:solidFill>
                <a:latin typeface="+mj-lt"/>
              </a:rPr>
              <a:t>Decisive Point 1: Hospital Move</a:t>
            </a:r>
          </a:p>
        </p:txBody>
      </p:sp>
      <p:sp>
        <p:nvSpPr>
          <p:cNvPr id="13" name="TextBox 12">
            <a:extLst>
              <a:ext uri="{FF2B5EF4-FFF2-40B4-BE49-F238E27FC236}">
                <a16:creationId xmlns:a16="http://schemas.microsoft.com/office/drawing/2014/main" id="{5F8941ED-38BE-F902-0775-97666FE26F0D}"/>
              </a:ext>
            </a:extLst>
          </p:cNvPr>
          <p:cNvSpPr txBox="1"/>
          <p:nvPr/>
        </p:nvSpPr>
        <p:spPr>
          <a:xfrm>
            <a:off x="640502" y="6410886"/>
            <a:ext cx="3432734" cy="338554"/>
          </a:xfrm>
          <a:prstGeom prst="rect">
            <a:avLst/>
          </a:prstGeom>
          <a:noFill/>
        </p:spPr>
        <p:txBody>
          <a:bodyPr wrap="square">
            <a:spAutoFit/>
          </a:bodyPr>
          <a:lstStyle/>
          <a:p>
            <a:pPr>
              <a:defRPr/>
            </a:pPr>
            <a:r>
              <a:rPr lang="en-US" sz="1600" dirty="0">
                <a:solidFill>
                  <a:prstClr val="black"/>
                </a:solidFill>
                <a:latin typeface="+mj-lt"/>
              </a:rPr>
              <a:t>Decisive Point 2: Change of  Command</a:t>
            </a:r>
          </a:p>
        </p:txBody>
      </p:sp>
      <p:sp>
        <p:nvSpPr>
          <p:cNvPr id="10" name="TextBox 9">
            <a:extLst>
              <a:ext uri="{FF2B5EF4-FFF2-40B4-BE49-F238E27FC236}">
                <a16:creationId xmlns:a16="http://schemas.microsoft.com/office/drawing/2014/main" id="{F5C899AC-70F6-9534-DDE6-E5960C8B9522}"/>
              </a:ext>
            </a:extLst>
          </p:cNvPr>
          <p:cNvSpPr txBox="1"/>
          <p:nvPr/>
        </p:nvSpPr>
        <p:spPr>
          <a:xfrm>
            <a:off x="1555899" y="323809"/>
            <a:ext cx="9083484" cy="738664"/>
          </a:xfrm>
          <a:prstGeom prst="rect">
            <a:avLst/>
          </a:prstGeom>
          <a:noFill/>
        </p:spPr>
        <p:txBody>
          <a:bodyPr wrap="square">
            <a:spAutoFit/>
          </a:bodyPr>
          <a:lstStyle/>
          <a:p>
            <a:pPr algn="ctr"/>
            <a:r>
              <a:rPr lang="en-US" sz="1400" b="1" dirty="0"/>
              <a:t>Mission:</a:t>
            </a:r>
            <a:r>
              <a:rPr lang="en-US" sz="1400" dirty="0"/>
              <a:t> Continuously synchronize medical efforts across the GLWACH and </a:t>
            </a:r>
            <a:r>
              <a:rPr lang="en-US" sz="1400" dirty="0" err="1"/>
              <a:t>MSCoE</a:t>
            </a:r>
            <a:r>
              <a:rPr lang="en-US" sz="1400" dirty="0"/>
              <a:t> footprint to deliver the right care, at the right place, at the right time—building a medically ready force, developing a ready medical force, and achieving seamless </a:t>
            </a:r>
            <a:r>
              <a:rPr lang="en-US" sz="1400" dirty="0" err="1"/>
              <a:t>MSCoE</a:t>
            </a:r>
            <a:r>
              <a:rPr lang="en-US" sz="1400" dirty="0"/>
              <a:t> integration—in order to enable the </a:t>
            </a:r>
            <a:r>
              <a:rPr lang="en-US" sz="1400" dirty="0" err="1"/>
              <a:t>MSCoE</a:t>
            </a:r>
            <a:r>
              <a:rPr lang="en-US" sz="1400" dirty="0"/>
              <a:t> training mission.</a:t>
            </a:r>
          </a:p>
        </p:txBody>
      </p:sp>
      <p:pic>
        <p:nvPicPr>
          <p:cNvPr id="5" name="Picture 4">
            <a:extLst>
              <a:ext uri="{FF2B5EF4-FFF2-40B4-BE49-F238E27FC236}">
                <a16:creationId xmlns:a16="http://schemas.microsoft.com/office/drawing/2014/main" id="{077901A2-9C98-DE59-D204-B9C8E95B421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065" y="160550"/>
            <a:ext cx="676275" cy="676275"/>
          </a:xfrm>
          <a:prstGeom prst="rect">
            <a:avLst/>
          </a:prstGeom>
          <a:noFill/>
          <a:ln>
            <a:noFill/>
          </a:ln>
        </p:spPr>
      </p:pic>
      <p:pic>
        <p:nvPicPr>
          <p:cNvPr id="11" name="Picture 10" descr="Units/Tenants :: FORT LEONARD WOOD">
            <a:extLst>
              <a:ext uri="{FF2B5EF4-FFF2-40B4-BE49-F238E27FC236}">
                <a16:creationId xmlns:a16="http://schemas.microsoft.com/office/drawing/2014/main" id="{A49B4CBA-6C82-4810-CDFA-7F9E39DDD11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113448" y="165207"/>
            <a:ext cx="1038225" cy="695325"/>
          </a:xfrm>
          <a:prstGeom prst="rect">
            <a:avLst/>
          </a:prstGeom>
          <a:noFill/>
          <a:ln>
            <a:noFill/>
          </a:ln>
        </p:spPr>
      </p:pic>
    </p:spTree>
    <p:extLst>
      <p:ext uri="{BB962C8B-B14F-4D97-AF65-F5344CB8AC3E}">
        <p14:creationId xmlns:p14="http://schemas.microsoft.com/office/powerpoint/2010/main" val="3453989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aa047a0-bcdb-4a03-8cb5-b5cc812b0f6a}" enabled="1" method="Privileged" siteId="{8903a443-af33-4ed4-acf5-ee613bcb2f59}" removed="0"/>
</clbl:labelList>
</file>

<file path=docProps/app.xml><?xml version="1.0" encoding="utf-8"?>
<Properties xmlns="http://schemas.openxmlformats.org/officeDocument/2006/extended-properties" xmlns:vt="http://schemas.openxmlformats.org/officeDocument/2006/docPropsVTypes">
  <TotalTime>441</TotalTime>
  <Words>2124</Words>
  <Application>Microsoft Office PowerPoint</Application>
  <PresentationFormat>Widescreen</PresentationFormat>
  <Paragraphs>107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Holtkamp</dc:creator>
  <cp:lastModifiedBy>Holtkamp, Matthew D LTC USARMY MEDCOM GLWACH (USA)</cp:lastModifiedBy>
  <cp:revision>10</cp:revision>
  <dcterms:created xsi:type="dcterms:W3CDTF">2025-09-20T13:37:10Z</dcterms:created>
  <dcterms:modified xsi:type="dcterms:W3CDTF">2026-05-01T21:23:33Z</dcterms:modified>
</cp:coreProperties>
</file>